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11826202-6EDF-0477-FE62-2A2C44093AC8}">
          <p14:sldIdLst>
            <p14:sldId id="256"/>
          </p14:sldIdLst>
        </p14:section>
        <p14:section name="The idea" id="{8FA03A30-FDD3-8D55-6E6E-2AA4A2DC39F4}">
          <p14:sldIdLst>
            <p14:sldId id="257"/>
            <p14:sldId id="258"/>
            <p14:sldId id="259"/>
            <p14:sldId id="260"/>
            <p14:sldId id="261"/>
          </p14:sldIdLst>
        </p14:section>
        <p14:section name="How it works" id="{DFF3032F-AF88-F105-5579-29FB271F47AA}">
          <p14:sldIdLst>
            <p14:sldId id="262"/>
            <p14:sldId id="263"/>
            <p14:sldId id="264"/>
          </p14:sldIdLst>
        </p14:section>
        <p14:section name="Quality" id="{52869AB0-687B-1602-D333-A8E989B1533E}">
          <p14:sldIdLst>
            <p14:sldId id="265"/>
            <p14:sldId id="266"/>
            <p14:sldId id="267"/>
          </p14:sldIdLst>
        </p14:section>
        <p14:section name="Next" id="{4C8DDC85-3251-0563-484F-8D425731248A}">
          <p14:sldIdLst>
            <p14:sldId id="268"/>
            <p14:sldId id="269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who we are and what the project 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about the problems people face when they need a government service.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idea in simple words. The system only guides the user. The government still approves the application.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 through the parts quickly.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that we run it locally with XAMPP.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Follow these steps in the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can type this sentence in the finder as a live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points are also checked by our tests.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clear about what is finished and what is still to 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limits honestly, then move to future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come from the limits and from the SRS features marked as future.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for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6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731520" y="457200"/>
            <a:ext cx="9509760" cy="914400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l">
              <a:buNone/>
              <a:defRPr lang="en-US" sz="38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594360"/>
            <a:ext cx="914400" cy="640080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5E9C8A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lvl1pPr>
          </a:lstStyle>
          <a:p>
            <a:pPr algn="r"/>
            <a:fld id="{F7021451-1387-4CA6-816F-3879F97B5CBC}" type="slidenum">
              <a:rPr lang="en-US" b="1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E4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822960" y="1371600"/>
            <a:ext cx="7315200" cy="1188720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l">
              <a:buNone/>
              <a:defRPr lang="en-US" sz="64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6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594360"/>
            <a:ext cx="914400" cy="640080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5E9C8A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lvl1pPr>
          </a:lstStyle>
          <a:p>
            <a:pPr algn="r"/>
            <a:fld id="{F7021451-1387-4CA6-816F-3879F97B5CBC}" type="slidenum">
              <a:rPr lang="en-US" b="1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ft circle blue"/>
          <p:cNvSpPr/>
          <p:nvPr/>
        </p:nvSpPr>
        <p:spPr>
          <a:xfrm>
            <a:off x="8229600" y="731520"/>
            <a:ext cx="4389120" cy="4389120"/>
          </a:xfrm>
          <a:prstGeom prst="ellipse">
            <a:avLst/>
          </a:prstGeom>
          <a:solidFill>
            <a:srgbClr val="CFE3F3">
              <a:alpha val="85000"/>
            </a:srgbClr>
          </a:solidFill>
        </p:spPr>
      </p:sp>
      <p:sp>
        <p:nvSpPr>
          <p:cNvPr id="3" name="Soft circle peach"/>
          <p:cNvSpPr/>
          <p:nvPr/>
        </p:nvSpPr>
        <p:spPr>
          <a:xfrm>
            <a:off x="8595360" y="3566160"/>
            <a:ext cx="2743200" cy="2743200"/>
          </a:xfrm>
          <a:prstGeom prst="ellipse">
            <a:avLst/>
          </a:prstGeom>
          <a:solidFill>
            <a:srgbClr val="F6D9C4">
              <a:alpha val="75000"/>
            </a:srgbClr>
          </a:solidFill>
        </p:spPr>
      </p:sp>
      <p:sp>
        <p:nvSpPr>
          <p:cNvPr id="4" name="Soft circle mint"/>
          <p:cNvSpPr/>
          <p:nvPr/>
        </p:nvSpPr>
        <p:spPr>
          <a:xfrm>
            <a:off x="9875520" y="274320"/>
            <a:ext cx="1828800" cy="1828800"/>
          </a:xfrm>
          <a:prstGeom prst="ellipse">
            <a:avLst/>
          </a:prstGeom>
          <a:solidFill>
            <a:srgbClr val="A9CFC2">
              <a:alpha val="70000"/>
            </a:srgbClr>
          </a:solidFill>
        </p:spPr>
      </p:sp>
      <p:sp>
        <p:nvSpPr>
          <p:cNvPr id="5" name="Text 0"/>
          <p:cNvSpPr/>
          <p:nvPr>
            <p:ph type="title" idx="100" hasCustomPrompt="1"/>
          </p:nvPr>
        </p:nvSpPr>
        <p:spPr>
          <a:xfrm>
            <a:off x="822960" y="730885"/>
            <a:ext cx="7315200" cy="1412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400" b="1" dirty="0">
                <a:solidFill>
                  <a:schemeClr val="tx1"/>
                </a:solidFill>
              </a:rPr>
              <a:t>CIVIC-FLOW</a:t>
            </a:r>
            <a:endParaRPr lang="en-US" sz="6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84400"/>
            <a:ext cx="7315200" cy="10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3C7F6E"/>
                </a:solidFill>
                <a:latin typeface="+mj-lt"/>
                <a:ea typeface="+mj-lt"/>
                <a:cs typeface="+mj-lt"/>
              </a:rPr>
              <a:t>Smart Government Service Guide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80390" y="3566160"/>
            <a:ext cx="8686800" cy="24644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Submitted by:</a:t>
            </a:r>
            <a:endParaRPr lang="en-US" sz="2400" b="1" dirty="0">
              <a:solidFill>
                <a:schemeClr val="tx2"/>
              </a:solidFill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                           </a:t>
            </a:r>
            <a:r>
              <a:rPr lang="en-US" sz="2000" dirty="0">
                <a:solidFill>
                  <a:schemeClr val="tx1">
                    <a:lumMod val="50000"/>
                  </a:schemeClr>
                </a:solidFill>
              </a:rPr>
              <a:t>Tamanna Afrin (0432320005101025) </a:t>
            </a:r>
            <a:endParaRPr lang="en-US" sz="2000" dirty="0">
              <a:solidFill>
                <a:schemeClr val="tx1">
                  <a:lumMod val="50000"/>
                </a:schemeClr>
              </a:solidFill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>
                    <a:lumMod val="50000"/>
                  </a:schemeClr>
                </a:solidFill>
              </a:rPr>
              <a:t>                         Puja Rani Ghosh (0432320005101019)</a:t>
            </a:r>
            <a:endParaRPr lang="en-US" sz="2000" dirty="0">
              <a:solidFill>
                <a:schemeClr val="tx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3C7F6E"/>
                </a:solidFill>
              </a:rPr>
              <a:t>  </a:t>
            </a:r>
            <a:endParaRPr lang="en-US" sz="2000" dirty="0">
              <a:solidFill>
                <a:srgbClr val="3C7F6E"/>
              </a:solidFill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Submitted to:</a:t>
            </a:r>
            <a:endParaRPr lang="en-US" sz="2400" b="1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3C7F6E"/>
                </a:solidFill>
              </a:rPr>
              <a:t>                          </a:t>
            </a:r>
            <a:r>
              <a:rPr lang="en-US" sz="2000" dirty="0">
                <a:solidFill>
                  <a:schemeClr val="tx1">
                    <a:lumMod val="50000"/>
                  </a:schemeClr>
                </a:solidFill>
              </a:rPr>
              <a:t>AL Imtiaz</a:t>
            </a:r>
            <a:endParaRPr lang="en-US" sz="2000" dirty="0">
              <a:solidFill>
                <a:schemeClr val="tx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tx1">
                    <a:lumMod val="50000"/>
                  </a:schemeClr>
                </a:solidFill>
              </a:rPr>
              <a:t>                        Lecturer, CSE</a:t>
            </a:r>
            <a:endParaRPr lang="en-US" sz="2000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731520" y="457200"/>
            <a:ext cx="95097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1"/>
                </a:solidFill>
              </a:rPr>
              <a:t>Why we made this</a:t>
            </a:r>
            <a:endParaRPr lang="en-US" sz="3800" dirty="0"/>
          </a:p>
        </p:txBody>
      </p:sp>
      <p:sp>
        <p:nvSpPr>
          <p:cNvPr id="4" name="Row"/>
          <p:cNvSpPr/>
          <p:nvPr/>
        </p:nvSpPr>
        <p:spPr>
          <a:xfrm>
            <a:off x="731520" y="1737360"/>
            <a:ext cx="10725912" cy="905256"/>
          </a:xfrm>
          <a:prstGeom prst="roundRect">
            <a:avLst>
              <a:gd name="adj" fmla="val 12121"/>
            </a:avLst>
          </a:prstGeom>
          <a:solidFill>
            <a:schemeClr val="bg1"/>
          </a:solidFill>
          <a:ln w="12700">
            <a:solidFill>
              <a:srgbClr val="D6E5DF"/>
            </a:solidFill>
            <a:prstDash val="solid"/>
          </a:ln>
        </p:spPr>
      </p:sp>
      <p:sp>
        <p:nvSpPr>
          <p:cNvPr id="5" name="Dot"/>
          <p:cNvSpPr/>
          <p:nvPr/>
        </p:nvSpPr>
        <p:spPr>
          <a:xfrm>
            <a:off x="1051560" y="2116836"/>
            <a:ext cx="146304" cy="146304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6" name="Text 3"/>
          <p:cNvSpPr txBox="1"/>
          <p:nvPr/>
        </p:nvSpPr>
        <p:spPr>
          <a:xfrm>
            <a:off x="1463040" y="1737360"/>
            <a:ext cx="9720072" cy="9052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People often do not know which government service they need</a:t>
            </a:r>
            <a:endParaRPr lang="en-US" sz="2400" dirty="0"/>
          </a:p>
        </p:txBody>
      </p:sp>
      <p:sp>
        <p:nvSpPr>
          <p:cNvPr id="7" name="Row"/>
          <p:cNvSpPr/>
          <p:nvPr/>
        </p:nvSpPr>
        <p:spPr>
          <a:xfrm>
            <a:off x="731520" y="2788920"/>
            <a:ext cx="10725912" cy="905256"/>
          </a:xfrm>
          <a:prstGeom prst="roundRect">
            <a:avLst>
              <a:gd name="adj" fmla="val 12121"/>
            </a:avLst>
          </a:prstGeom>
          <a:solidFill>
            <a:schemeClr val="bg1"/>
          </a:solidFill>
          <a:ln w="12700">
            <a:solidFill>
              <a:srgbClr val="D6E5DF"/>
            </a:solidFill>
            <a:prstDash val="solid"/>
          </a:ln>
        </p:spPr>
      </p:sp>
      <p:sp>
        <p:nvSpPr>
          <p:cNvPr id="8" name="Dot"/>
          <p:cNvSpPr/>
          <p:nvPr/>
        </p:nvSpPr>
        <p:spPr>
          <a:xfrm>
            <a:off x="1051560" y="3168396"/>
            <a:ext cx="146304" cy="146304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9" name="Text 6"/>
          <p:cNvSpPr txBox="1"/>
          <p:nvPr/>
        </p:nvSpPr>
        <p:spPr>
          <a:xfrm>
            <a:off x="1463040" y="2788920"/>
            <a:ext cx="9720072" cy="9052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They do not know which documents to bring</a:t>
            </a:r>
            <a:endParaRPr lang="en-US" sz="2400" dirty="0"/>
          </a:p>
        </p:txBody>
      </p:sp>
      <p:sp>
        <p:nvSpPr>
          <p:cNvPr id="10" name="Row"/>
          <p:cNvSpPr/>
          <p:nvPr/>
        </p:nvSpPr>
        <p:spPr>
          <a:xfrm>
            <a:off x="731520" y="3840480"/>
            <a:ext cx="10725912" cy="905256"/>
          </a:xfrm>
          <a:prstGeom prst="roundRect">
            <a:avLst>
              <a:gd name="adj" fmla="val 12121"/>
            </a:avLst>
          </a:prstGeom>
          <a:solidFill>
            <a:schemeClr val="bg1"/>
          </a:solidFill>
          <a:ln w="12700">
            <a:solidFill>
              <a:srgbClr val="D6E5DF"/>
            </a:solidFill>
            <a:prstDash val="solid"/>
          </a:ln>
        </p:spPr>
      </p:sp>
      <p:sp>
        <p:nvSpPr>
          <p:cNvPr id="11" name="Dot"/>
          <p:cNvSpPr/>
          <p:nvPr/>
        </p:nvSpPr>
        <p:spPr>
          <a:xfrm>
            <a:off x="1051560" y="4219956"/>
            <a:ext cx="146304" cy="146304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12" name="Text 9"/>
          <p:cNvSpPr txBox="1"/>
          <p:nvPr/>
        </p:nvSpPr>
        <p:spPr>
          <a:xfrm>
            <a:off x="1463040" y="3840480"/>
            <a:ext cx="9720072" cy="9052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Each service has its own website</a:t>
            </a:r>
            <a:endParaRPr lang="en-US" sz="2400" dirty="0"/>
          </a:p>
        </p:txBody>
      </p:sp>
      <p:sp>
        <p:nvSpPr>
          <p:cNvPr id="13" name="Row"/>
          <p:cNvSpPr/>
          <p:nvPr/>
        </p:nvSpPr>
        <p:spPr>
          <a:xfrm>
            <a:off x="731520" y="4892040"/>
            <a:ext cx="10725912" cy="905256"/>
          </a:xfrm>
          <a:prstGeom prst="roundRect">
            <a:avLst>
              <a:gd name="adj" fmla="val 12121"/>
            </a:avLst>
          </a:prstGeom>
          <a:solidFill>
            <a:schemeClr val="bg1"/>
          </a:solidFill>
          <a:ln w="12700">
            <a:solidFill>
              <a:srgbClr val="D6E5DF"/>
            </a:solidFill>
            <a:prstDash val="solid"/>
          </a:ln>
        </p:spPr>
      </p:sp>
      <p:sp>
        <p:nvSpPr>
          <p:cNvPr id="14" name="Dot"/>
          <p:cNvSpPr/>
          <p:nvPr/>
        </p:nvSpPr>
        <p:spPr>
          <a:xfrm>
            <a:off x="1051560" y="5271516"/>
            <a:ext cx="146304" cy="146304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15" name="Text 12"/>
          <p:cNvSpPr txBox="1"/>
          <p:nvPr/>
        </p:nvSpPr>
        <p:spPr>
          <a:xfrm>
            <a:off x="1463040" y="4892040"/>
            <a:ext cx="9720072" cy="9052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It is hard to know what happened to an application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594360"/>
            <a:ext cx="914400" cy="640080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5E9C8A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lvl1pPr>
          </a:lstStyle>
          <a:p>
            <a:pPr algn="r"/>
            <a:fld id="{F7021451-1387-4CA6-816F-3879F97B5CBC}" type="slidenum">
              <a:rPr lang="en-US" b="1"/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731520" y="457200"/>
            <a:ext cx="95097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1"/>
                </a:solidFill>
              </a:rPr>
              <a:t>What our project does</a:t>
            </a:r>
            <a:endParaRPr lang="en-US" sz="3800" dirty="0"/>
          </a:p>
        </p:txBody>
      </p:sp>
      <p:sp>
        <p:nvSpPr>
          <p:cNvPr id="4" name="Row"/>
          <p:cNvSpPr/>
          <p:nvPr/>
        </p:nvSpPr>
        <p:spPr>
          <a:xfrm>
            <a:off x="731520" y="1737360"/>
            <a:ext cx="10725912" cy="768096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2700">
            <a:solidFill>
              <a:srgbClr val="D6E5DF"/>
            </a:solidFill>
            <a:prstDash val="solid"/>
          </a:ln>
        </p:spPr>
      </p:sp>
      <p:sp>
        <p:nvSpPr>
          <p:cNvPr id="5" name="Dot"/>
          <p:cNvSpPr/>
          <p:nvPr/>
        </p:nvSpPr>
        <p:spPr>
          <a:xfrm>
            <a:off x="1051560" y="2048256"/>
            <a:ext cx="146304" cy="146304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6" name="Text 3"/>
          <p:cNvSpPr txBox="1"/>
          <p:nvPr/>
        </p:nvSpPr>
        <p:spPr>
          <a:xfrm>
            <a:off x="1463040" y="1737360"/>
            <a:ext cx="9720072" cy="7680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The user writes the problem in simple words</a:t>
            </a:r>
            <a:endParaRPr lang="en-US" sz="2400" dirty="0"/>
          </a:p>
        </p:txBody>
      </p:sp>
      <p:sp>
        <p:nvSpPr>
          <p:cNvPr id="7" name="Row"/>
          <p:cNvSpPr/>
          <p:nvPr/>
        </p:nvSpPr>
        <p:spPr>
          <a:xfrm>
            <a:off x="731520" y="2651760"/>
            <a:ext cx="10725912" cy="768096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2700">
            <a:solidFill>
              <a:srgbClr val="D6E5DF"/>
            </a:solidFill>
            <a:prstDash val="solid"/>
          </a:ln>
        </p:spPr>
      </p:sp>
      <p:sp>
        <p:nvSpPr>
          <p:cNvPr id="8" name="Dot"/>
          <p:cNvSpPr/>
          <p:nvPr/>
        </p:nvSpPr>
        <p:spPr>
          <a:xfrm>
            <a:off x="1051560" y="2962656"/>
            <a:ext cx="146304" cy="146304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9" name="Text 6"/>
          <p:cNvSpPr txBox="1"/>
          <p:nvPr/>
        </p:nvSpPr>
        <p:spPr>
          <a:xfrm>
            <a:off x="1463040" y="2651760"/>
            <a:ext cx="9720072" cy="7680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The system suggests the right service</a:t>
            </a:r>
            <a:endParaRPr lang="en-US" sz="2400" dirty="0"/>
          </a:p>
        </p:txBody>
      </p:sp>
      <p:sp>
        <p:nvSpPr>
          <p:cNvPr id="10" name="Row"/>
          <p:cNvSpPr/>
          <p:nvPr/>
        </p:nvSpPr>
        <p:spPr>
          <a:xfrm>
            <a:off x="731520" y="3566160"/>
            <a:ext cx="10725912" cy="768096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2700">
            <a:solidFill>
              <a:srgbClr val="D6E5DF"/>
            </a:solidFill>
            <a:prstDash val="solid"/>
          </a:ln>
        </p:spPr>
      </p:sp>
      <p:sp>
        <p:nvSpPr>
          <p:cNvPr id="11" name="Dot"/>
          <p:cNvSpPr/>
          <p:nvPr/>
        </p:nvSpPr>
        <p:spPr>
          <a:xfrm>
            <a:off x="1051560" y="3877056"/>
            <a:ext cx="146304" cy="146304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12" name="Text 9"/>
          <p:cNvSpPr txBox="1"/>
          <p:nvPr/>
        </p:nvSpPr>
        <p:spPr>
          <a:xfrm>
            <a:off x="1463040" y="3566160"/>
            <a:ext cx="9720072" cy="7680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It shows the documents and the steps</a:t>
            </a:r>
            <a:endParaRPr lang="en-US" sz="2400" dirty="0"/>
          </a:p>
        </p:txBody>
      </p:sp>
      <p:sp>
        <p:nvSpPr>
          <p:cNvPr id="13" name="Row"/>
          <p:cNvSpPr/>
          <p:nvPr/>
        </p:nvSpPr>
        <p:spPr>
          <a:xfrm>
            <a:off x="731520" y="4480560"/>
            <a:ext cx="10725912" cy="768096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2700">
            <a:solidFill>
              <a:srgbClr val="D6E5DF"/>
            </a:solidFill>
            <a:prstDash val="solid"/>
          </a:ln>
        </p:spPr>
      </p:sp>
      <p:sp>
        <p:nvSpPr>
          <p:cNvPr id="14" name="Dot"/>
          <p:cNvSpPr/>
          <p:nvPr/>
        </p:nvSpPr>
        <p:spPr>
          <a:xfrm>
            <a:off x="1051560" y="4791456"/>
            <a:ext cx="146304" cy="146304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15" name="Text 12"/>
          <p:cNvSpPr txBox="1"/>
          <p:nvPr/>
        </p:nvSpPr>
        <p:spPr>
          <a:xfrm>
            <a:off x="1463040" y="4480560"/>
            <a:ext cx="9720072" cy="7680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The user uploads documents and gets a reference number</a:t>
            </a:r>
            <a:endParaRPr lang="en-US" sz="2400" dirty="0"/>
          </a:p>
        </p:txBody>
      </p:sp>
      <p:sp>
        <p:nvSpPr>
          <p:cNvPr id="16" name="Row"/>
          <p:cNvSpPr/>
          <p:nvPr/>
        </p:nvSpPr>
        <p:spPr>
          <a:xfrm>
            <a:off x="731520" y="5394960"/>
            <a:ext cx="10725912" cy="768096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2700">
            <a:solidFill>
              <a:srgbClr val="D6E5DF"/>
            </a:solidFill>
            <a:prstDash val="solid"/>
          </a:ln>
        </p:spPr>
      </p:sp>
      <p:sp>
        <p:nvSpPr>
          <p:cNvPr id="17" name="Dot"/>
          <p:cNvSpPr/>
          <p:nvPr/>
        </p:nvSpPr>
        <p:spPr>
          <a:xfrm>
            <a:off x="1051560" y="5705856"/>
            <a:ext cx="146304" cy="146304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18" name="Text 15"/>
          <p:cNvSpPr txBox="1"/>
          <p:nvPr/>
        </p:nvSpPr>
        <p:spPr>
          <a:xfrm>
            <a:off x="1463040" y="5394960"/>
            <a:ext cx="9720072" cy="7680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The user can check the status later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594360"/>
            <a:ext cx="914400" cy="640080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5E9C8A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lvl1pPr>
          </a:lstStyle>
          <a:p>
            <a:pPr algn="r"/>
            <a:fld id="{F7021451-1387-4CA6-816F-3879F97B5CBC}" type="slidenum">
              <a:rPr lang="en-US" b="1"/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731520" y="457200"/>
            <a:ext cx="95097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1"/>
                </a:solidFill>
              </a:rPr>
              <a:t>Traditional vs. CivicFlow</a:t>
            </a:r>
            <a:endParaRPr lang="en-US" sz="3800" dirty="0"/>
          </a:p>
        </p:txBody>
      </p:sp>
      <p:sp>
        <p:nvSpPr>
          <p:cNvPr id="4" name="Column card"/>
          <p:cNvSpPr/>
          <p:nvPr/>
        </p:nvSpPr>
        <p:spPr>
          <a:xfrm>
            <a:off x="731520" y="1828800"/>
            <a:ext cx="5225796" cy="4114800"/>
          </a:xfrm>
          <a:prstGeom prst="roundRect">
            <a:avLst>
              <a:gd name="adj" fmla="val 3333"/>
            </a:avLst>
          </a:prstGeom>
          <a:solidFill>
            <a:srgbClr val="FBEEE4"/>
          </a:solidFill>
        </p:spPr>
      </p:sp>
      <p:sp>
        <p:nvSpPr>
          <p:cNvPr id="5" name="Text 2"/>
          <p:cNvSpPr txBox="1"/>
          <p:nvPr/>
        </p:nvSpPr>
        <p:spPr>
          <a:xfrm>
            <a:off x="1188720" y="2148840"/>
            <a:ext cx="4311396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9A5B3C"/>
                </a:solidFill>
                <a:latin typeface="+mj-lt"/>
                <a:ea typeface="+mj-lt"/>
                <a:cs typeface="+mj-lt"/>
              </a:rPr>
              <a:t>Paper System</a:t>
            </a:r>
            <a:endParaRPr lang="en-US" sz="2800" dirty="0"/>
          </a:p>
        </p:txBody>
      </p:sp>
      <p:sp>
        <p:nvSpPr>
          <p:cNvPr id="6" name="Dot"/>
          <p:cNvSpPr/>
          <p:nvPr/>
        </p:nvSpPr>
        <p:spPr>
          <a:xfrm>
            <a:off x="1188720" y="3310128"/>
            <a:ext cx="146304" cy="146304"/>
          </a:xfrm>
          <a:prstGeom prst="ellipse">
            <a:avLst/>
          </a:prstGeom>
          <a:solidFill>
            <a:srgbClr val="E39B6B"/>
          </a:solidFill>
        </p:spPr>
      </p:sp>
      <p:sp>
        <p:nvSpPr>
          <p:cNvPr id="7" name="Text 4"/>
          <p:cNvSpPr txBox="1"/>
          <p:nvPr/>
        </p:nvSpPr>
        <p:spPr>
          <a:xfrm>
            <a:off x="1554480" y="3063240"/>
            <a:ext cx="4219956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In-person office visits required</a:t>
            </a:r>
            <a:endParaRPr lang="en-US" sz="2000" dirty="0"/>
          </a:p>
        </p:txBody>
      </p:sp>
      <p:sp>
        <p:nvSpPr>
          <p:cNvPr id="8" name="Dot"/>
          <p:cNvSpPr/>
          <p:nvPr/>
        </p:nvSpPr>
        <p:spPr>
          <a:xfrm>
            <a:off x="1188720" y="3950208"/>
            <a:ext cx="146304" cy="146304"/>
          </a:xfrm>
          <a:prstGeom prst="ellipse">
            <a:avLst/>
          </a:prstGeom>
          <a:solidFill>
            <a:srgbClr val="E39B6B"/>
          </a:solidFill>
        </p:spPr>
      </p:sp>
      <p:sp>
        <p:nvSpPr>
          <p:cNvPr id="9" name="Text 6"/>
          <p:cNvSpPr txBox="1"/>
          <p:nvPr/>
        </p:nvSpPr>
        <p:spPr>
          <a:xfrm>
            <a:off x="1554480" y="3703320"/>
            <a:ext cx="4219956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Physical files easily misplaced</a:t>
            </a:r>
            <a:endParaRPr lang="en-US" sz="2000" dirty="0"/>
          </a:p>
        </p:txBody>
      </p:sp>
      <p:sp>
        <p:nvSpPr>
          <p:cNvPr id="10" name="Dot"/>
          <p:cNvSpPr/>
          <p:nvPr/>
        </p:nvSpPr>
        <p:spPr>
          <a:xfrm>
            <a:off x="1188720" y="4590288"/>
            <a:ext cx="146304" cy="146304"/>
          </a:xfrm>
          <a:prstGeom prst="ellipse">
            <a:avLst/>
          </a:prstGeom>
          <a:solidFill>
            <a:srgbClr val="E39B6B"/>
          </a:solidFill>
        </p:spPr>
      </p:sp>
      <p:sp>
        <p:nvSpPr>
          <p:cNvPr id="11" name="Text 8"/>
          <p:cNvSpPr txBox="1"/>
          <p:nvPr/>
        </p:nvSpPr>
        <p:spPr>
          <a:xfrm>
            <a:off x="1554480" y="4343400"/>
            <a:ext cx="4219956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No tracking information for citizens</a:t>
            </a:r>
            <a:endParaRPr lang="en-US" sz="2000" dirty="0"/>
          </a:p>
        </p:txBody>
      </p:sp>
      <p:sp>
        <p:nvSpPr>
          <p:cNvPr id="12" name="Dot"/>
          <p:cNvSpPr/>
          <p:nvPr/>
        </p:nvSpPr>
        <p:spPr>
          <a:xfrm>
            <a:off x="1188720" y="5230368"/>
            <a:ext cx="146304" cy="146304"/>
          </a:xfrm>
          <a:prstGeom prst="ellipse">
            <a:avLst/>
          </a:prstGeom>
          <a:solidFill>
            <a:srgbClr val="E39B6B"/>
          </a:solidFill>
        </p:spPr>
      </p:sp>
      <p:sp>
        <p:nvSpPr>
          <p:cNvPr id="13" name="Text 10"/>
          <p:cNvSpPr txBox="1"/>
          <p:nvPr/>
        </p:nvSpPr>
        <p:spPr>
          <a:xfrm>
            <a:off x="1554480" y="4983480"/>
            <a:ext cx="4219956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Takes weeks to issue final document</a:t>
            </a:r>
            <a:endParaRPr lang="en-US" sz="2000" dirty="0"/>
          </a:p>
        </p:txBody>
      </p:sp>
      <p:sp>
        <p:nvSpPr>
          <p:cNvPr id="14" name="Column card"/>
          <p:cNvSpPr/>
          <p:nvPr/>
        </p:nvSpPr>
        <p:spPr>
          <a:xfrm>
            <a:off x="6231636" y="1828800"/>
            <a:ext cx="5225796" cy="4114800"/>
          </a:xfrm>
          <a:prstGeom prst="roundRect">
            <a:avLst>
              <a:gd name="adj" fmla="val 3333"/>
            </a:avLst>
          </a:prstGeom>
          <a:solidFill>
            <a:srgbClr val="E2F1EB"/>
          </a:solidFill>
        </p:spPr>
      </p:sp>
      <p:sp>
        <p:nvSpPr>
          <p:cNvPr id="15" name="Text 12"/>
          <p:cNvSpPr txBox="1"/>
          <p:nvPr/>
        </p:nvSpPr>
        <p:spPr>
          <a:xfrm>
            <a:off x="6688836" y="2148840"/>
            <a:ext cx="4311396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F7A66"/>
                </a:solidFill>
                <a:latin typeface="+mj-lt"/>
                <a:ea typeface="+mj-lt"/>
                <a:cs typeface="+mj-lt"/>
              </a:rPr>
              <a:t>CivicFlow Platform</a:t>
            </a:r>
            <a:endParaRPr lang="en-US" sz="2800" dirty="0"/>
          </a:p>
        </p:txBody>
      </p:sp>
      <p:sp>
        <p:nvSpPr>
          <p:cNvPr id="16" name="Dot"/>
          <p:cNvSpPr/>
          <p:nvPr/>
        </p:nvSpPr>
        <p:spPr>
          <a:xfrm>
            <a:off x="6688836" y="3310128"/>
            <a:ext cx="146304" cy="146304"/>
          </a:xfrm>
          <a:prstGeom prst="ellipse">
            <a:avLst/>
          </a:prstGeom>
          <a:solidFill>
            <a:srgbClr val="5E9C8A"/>
          </a:solidFill>
        </p:spPr>
      </p:sp>
      <p:sp>
        <p:nvSpPr>
          <p:cNvPr id="17" name="Text 14"/>
          <p:cNvSpPr txBox="1"/>
          <p:nvPr/>
        </p:nvSpPr>
        <p:spPr>
          <a:xfrm>
            <a:off x="7054596" y="3063240"/>
            <a:ext cx="4219956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100% online submission</a:t>
            </a:r>
            <a:endParaRPr lang="en-US" sz="2000" dirty="0"/>
          </a:p>
        </p:txBody>
      </p:sp>
      <p:sp>
        <p:nvSpPr>
          <p:cNvPr id="18" name="Dot"/>
          <p:cNvSpPr/>
          <p:nvPr/>
        </p:nvSpPr>
        <p:spPr>
          <a:xfrm>
            <a:off x="6688836" y="3950208"/>
            <a:ext cx="146304" cy="146304"/>
          </a:xfrm>
          <a:prstGeom prst="ellipse">
            <a:avLst/>
          </a:prstGeom>
          <a:solidFill>
            <a:srgbClr val="5E9C8A"/>
          </a:solidFill>
        </p:spPr>
      </p:sp>
      <p:sp>
        <p:nvSpPr>
          <p:cNvPr id="19" name="Text 16"/>
          <p:cNvSpPr txBox="1"/>
          <p:nvPr/>
        </p:nvSpPr>
        <p:spPr>
          <a:xfrm>
            <a:off x="7054596" y="3703320"/>
            <a:ext cx="4219956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Digital records backed up safely</a:t>
            </a:r>
            <a:endParaRPr lang="en-US" sz="2000" dirty="0"/>
          </a:p>
        </p:txBody>
      </p:sp>
      <p:sp>
        <p:nvSpPr>
          <p:cNvPr id="20" name="Dot"/>
          <p:cNvSpPr/>
          <p:nvPr/>
        </p:nvSpPr>
        <p:spPr>
          <a:xfrm>
            <a:off x="6688836" y="4590288"/>
            <a:ext cx="146304" cy="146304"/>
          </a:xfrm>
          <a:prstGeom prst="ellipse">
            <a:avLst/>
          </a:prstGeom>
          <a:solidFill>
            <a:srgbClr val="5E9C8A"/>
          </a:solidFill>
        </p:spPr>
      </p:sp>
      <p:sp>
        <p:nvSpPr>
          <p:cNvPr id="21" name="Text 18"/>
          <p:cNvSpPr txBox="1"/>
          <p:nvPr/>
        </p:nvSpPr>
        <p:spPr>
          <a:xfrm>
            <a:off x="7054596" y="4343400"/>
            <a:ext cx="4219956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Real-time progress updates via SMS</a:t>
            </a:r>
            <a:endParaRPr lang="en-US" sz="2000" dirty="0"/>
          </a:p>
        </p:txBody>
      </p:sp>
      <p:sp>
        <p:nvSpPr>
          <p:cNvPr id="22" name="Dot"/>
          <p:cNvSpPr/>
          <p:nvPr/>
        </p:nvSpPr>
        <p:spPr>
          <a:xfrm>
            <a:off x="6688836" y="5230368"/>
            <a:ext cx="146304" cy="146304"/>
          </a:xfrm>
          <a:prstGeom prst="ellipse">
            <a:avLst/>
          </a:prstGeom>
          <a:solidFill>
            <a:srgbClr val="5E9C8A"/>
          </a:solidFill>
        </p:spPr>
      </p:sp>
      <p:sp>
        <p:nvSpPr>
          <p:cNvPr id="23" name="Text 20"/>
          <p:cNvSpPr txBox="1"/>
          <p:nvPr/>
        </p:nvSpPr>
        <p:spPr>
          <a:xfrm>
            <a:off x="7054596" y="4983480"/>
            <a:ext cx="4219956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Completed in 1 to 3 days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594360"/>
            <a:ext cx="914400" cy="640080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5E9C8A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lvl1pPr>
          </a:lstStyle>
          <a:p>
            <a:pPr algn="r"/>
            <a:fld id="{F7021451-1387-4CA6-816F-3879F97B5CBC}" type="slidenum">
              <a:rPr lang="en-US" b="1"/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731520" y="457200"/>
            <a:ext cx="95097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1"/>
                </a:solidFill>
              </a:rPr>
              <a:t>Main parts of the system</a:t>
            </a:r>
            <a:endParaRPr lang="en-US" sz="3800" dirty="0"/>
          </a:p>
        </p:txBody>
      </p:sp>
      <p:sp>
        <p:nvSpPr>
          <p:cNvPr id="4" name="Row"/>
          <p:cNvSpPr/>
          <p:nvPr/>
        </p:nvSpPr>
        <p:spPr>
          <a:xfrm>
            <a:off x="731520" y="1737360"/>
            <a:ext cx="10725912" cy="623316"/>
          </a:xfrm>
          <a:prstGeom prst="roundRect">
            <a:avLst>
              <a:gd name="adj" fmla="val 17604"/>
            </a:avLst>
          </a:prstGeom>
          <a:solidFill>
            <a:schemeClr val="bg1"/>
          </a:solidFill>
          <a:ln w="12700">
            <a:solidFill>
              <a:srgbClr val="D6E5DF"/>
            </a:solidFill>
            <a:prstDash val="solid"/>
          </a:ln>
        </p:spPr>
      </p:sp>
      <p:sp>
        <p:nvSpPr>
          <p:cNvPr id="5" name="Dot"/>
          <p:cNvSpPr/>
          <p:nvPr/>
        </p:nvSpPr>
        <p:spPr>
          <a:xfrm>
            <a:off x="1051560" y="1975866"/>
            <a:ext cx="146304" cy="146304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6" name="Text 3"/>
          <p:cNvSpPr txBox="1"/>
          <p:nvPr/>
        </p:nvSpPr>
        <p:spPr>
          <a:xfrm>
            <a:off x="1463040" y="1737360"/>
            <a:ext cx="9720072" cy="6233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</a:rPr>
              <a:t>Smart finder</a:t>
            </a:r>
            <a:endParaRPr lang="en-US" sz="2200" dirty="0"/>
          </a:p>
        </p:txBody>
      </p:sp>
      <p:sp>
        <p:nvSpPr>
          <p:cNvPr id="7" name="Row"/>
          <p:cNvSpPr/>
          <p:nvPr/>
        </p:nvSpPr>
        <p:spPr>
          <a:xfrm>
            <a:off x="731520" y="2506980"/>
            <a:ext cx="10725912" cy="623316"/>
          </a:xfrm>
          <a:prstGeom prst="roundRect">
            <a:avLst>
              <a:gd name="adj" fmla="val 17604"/>
            </a:avLst>
          </a:prstGeom>
          <a:solidFill>
            <a:schemeClr val="bg1"/>
          </a:solidFill>
          <a:ln w="12700">
            <a:solidFill>
              <a:srgbClr val="D6E5DF"/>
            </a:solidFill>
            <a:prstDash val="solid"/>
          </a:ln>
        </p:spPr>
      </p:sp>
      <p:sp>
        <p:nvSpPr>
          <p:cNvPr id="8" name="Dot"/>
          <p:cNvSpPr/>
          <p:nvPr/>
        </p:nvSpPr>
        <p:spPr>
          <a:xfrm>
            <a:off x="1051560" y="2745486"/>
            <a:ext cx="146304" cy="146304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9" name="Text 6"/>
          <p:cNvSpPr txBox="1"/>
          <p:nvPr/>
        </p:nvSpPr>
        <p:spPr>
          <a:xfrm>
            <a:off x="1463040" y="2506980"/>
            <a:ext cx="9720072" cy="6233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</a:rPr>
              <a:t>Steps for each service</a:t>
            </a:r>
            <a:endParaRPr lang="en-US" sz="2200" dirty="0"/>
          </a:p>
        </p:txBody>
      </p:sp>
      <p:sp>
        <p:nvSpPr>
          <p:cNvPr id="10" name="Row"/>
          <p:cNvSpPr/>
          <p:nvPr/>
        </p:nvSpPr>
        <p:spPr>
          <a:xfrm>
            <a:off x="731520" y="3276600"/>
            <a:ext cx="10725912" cy="623316"/>
          </a:xfrm>
          <a:prstGeom prst="roundRect">
            <a:avLst>
              <a:gd name="adj" fmla="val 17604"/>
            </a:avLst>
          </a:prstGeom>
          <a:solidFill>
            <a:schemeClr val="bg1"/>
          </a:solidFill>
          <a:ln w="12700">
            <a:solidFill>
              <a:srgbClr val="D6E5DF"/>
            </a:solidFill>
            <a:prstDash val="solid"/>
          </a:ln>
        </p:spPr>
      </p:sp>
      <p:sp>
        <p:nvSpPr>
          <p:cNvPr id="11" name="Dot"/>
          <p:cNvSpPr/>
          <p:nvPr/>
        </p:nvSpPr>
        <p:spPr>
          <a:xfrm>
            <a:off x="1051560" y="3515106"/>
            <a:ext cx="146304" cy="146304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12" name="Text 9"/>
          <p:cNvSpPr txBox="1"/>
          <p:nvPr/>
        </p:nvSpPr>
        <p:spPr>
          <a:xfrm>
            <a:off x="1463040" y="3276600"/>
            <a:ext cx="9720072" cy="6233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</a:rPr>
              <a:t>List of required and optional documents</a:t>
            </a:r>
            <a:endParaRPr lang="en-US" sz="2200" dirty="0"/>
          </a:p>
        </p:txBody>
      </p:sp>
      <p:sp>
        <p:nvSpPr>
          <p:cNvPr id="13" name="Row"/>
          <p:cNvSpPr/>
          <p:nvPr/>
        </p:nvSpPr>
        <p:spPr>
          <a:xfrm>
            <a:off x="731520" y="4046220"/>
            <a:ext cx="10725912" cy="623316"/>
          </a:xfrm>
          <a:prstGeom prst="roundRect">
            <a:avLst>
              <a:gd name="adj" fmla="val 17604"/>
            </a:avLst>
          </a:prstGeom>
          <a:solidFill>
            <a:schemeClr val="bg1"/>
          </a:solidFill>
          <a:ln w="12700">
            <a:solidFill>
              <a:srgbClr val="D6E5DF"/>
            </a:solidFill>
            <a:prstDash val="solid"/>
          </a:ln>
        </p:spPr>
      </p:sp>
      <p:sp>
        <p:nvSpPr>
          <p:cNvPr id="14" name="Dot"/>
          <p:cNvSpPr/>
          <p:nvPr/>
        </p:nvSpPr>
        <p:spPr>
          <a:xfrm>
            <a:off x="1051560" y="4284726"/>
            <a:ext cx="146304" cy="146304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15" name="Text 12"/>
          <p:cNvSpPr txBox="1"/>
          <p:nvPr/>
        </p:nvSpPr>
        <p:spPr>
          <a:xfrm>
            <a:off x="1463040" y="4046220"/>
            <a:ext cx="9720072" cy="6233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</a:rPr>
              <a:t>Document upload</a:t>
            </a:r>
            <a:endParaRPr lang="en-US" sz="2200" dirty="0"/>
          </a:p>
        </p:txBody>
      </p:sp>
      <p:sp>
        <p:nvSpPr>
          <p:cNvPr id="16" name="Row"/>
          <p:cNvSpPr/>
          <p:nvPr/>
        </p:nvSpPr>
        <p:spPr>
          <a:xfrm>
            <a:off x="731520" y="4815840"/>
            <a:ext cx="10725912" cy="623316"/>
          </a:xfrm>
          <a:prstGeom prst="roundRect">
            <a:avLst>
              <a:gd name="adj" fmla="val 17604"/>
            </a:avLst>
          </a:prstGeom>
          <a:solidFill>
            <a:schemeClr val="bg1"/>
          </a:solidFill>
          <a:ln w="12700">
            <a:solidFill>
              <a:srgbClr val="D6E5DF"/>
            </a:solidFill>
            <a:prstDash val="solid"/>
          </a:ln>
        </p:spPr>
      </p:sp>
      <p:sp>
        <p:nvSpPr>
          <p:cNvPr id="17" name="Dot"/>
          <p:cNvSpPr/>
          <p:nvPr/>
        </p:nvSpPr>
        <p:spPr>
          <a:xfrm>
            <a:off x="1051560" y="5054346"/>
            <a:ext cx="146304" cy="146304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18" name="Text 15"/>
          <p:cNvSpPr txBox="1"/>
          <p:nvPr/>
        </p:nvSpPr>
        <p:spPr>
          <a:xfrm>
            <a:off x="1463040" y="4815840"/>
            <a:ext cx="9720072" cy="6233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</a:rPr>
              <a:t>Application tracking and notifications</a:t>
            </a:r>
            <a:endParaRPr lang="en-US" sz="2200" dirty="0"/>
          </a:p>
        </p:txBody>
      </p:sp>
      <p:sp>
        <p:nvSpPr>
          <p:cNvPr id="19" name="Row"/>
          <p:cNvSpPr/>
          <p:nvPr/>
        </p:nvSpPr>
        <p:spPr>
          <a:xfrm>
            <a:off x="731520" y="5585460"/>
            <a:ext cx="10725912" cy="623316"/>
          </a:xfrm>
          <a:prstGeom prst="roundRect">
            <a:avLst>
              <a:gd name="adj" fmla="val 17604"/>
            </a:avLst>
          </a:prstGeom>
          <a:solidFill>
            <a:schemeClr val="bg1"/>
          </a:solidFill>
          <a:ln w="12700">
            <a:solidFill>
              <a:srgbClr val="D6E5DF"/>
            </a:solidFill>
            <a:prstDash val="solid"/>
          </a:ln>
        </p:spPr>
      </p:sp>
      <p:sp>
        <p:nvSpPr>
          <p:cNvPr id="20" name="Dot"/>
          <p:cNvSpPr/>
          <p:nvPr/>
        </p:nvSpPr>
        <p:spPr>
          <a:xfrm>
            <a:off x="1051560" y="5823966"/>
            <a:ext cx="146304" cy="146304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21" name="Text 18"/>
          <p:cNvSpPr txBox="1"/>
          <p:nvPr/>
        </p:nvSpPr>
        <p:spPr>
          <a:xfrm>
            <a:off x="1463040" y="5585460"/>
            <a:ext cx="9720072" cy="6233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</a:rPr>
              <a:t>Admin panel to add services and change status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594360"/>
            <a:ext cx="914400" cy="640080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5E9C8A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lvl1pPr>
          </a:lstStyle>
          <a:p>
            <a:pPr algn="r"/>
            <a:fld id="{F7021451-1387-4CA6-816F-3879F97B5CBC}" type="slidenum">
              <a:rPr lang="en-US" b="1"/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731520" y="457200"/>
            <a:ext cx="95097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1"/>
                </a:solidFill>
              </a:rPr>
              <a:t>Our services</a:t>
            </a:r>
            <a:endParaRPr lang="en-US" sz="3800" dirty="0"/>
          </a:p>
        </p:txBody>
      </p:sp>
      <p:sp>
        <p:nvSpPr>
          <p:cNvPr id="4" name="Row"/>
          <p:cNvSpPr/>
          <p:nvPr/>
        </p:nvSpPr>
        <p:spPr>
          <a:xfrm>
            <a:off x="731520" y="1737360"/>
            <a:ext cx="10725912" cy="768096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2700">
            <a:solidFill>
              <a:srgbClr val="D6E5DF"/>
            </a:solidFill>
            <a:prstDash val="solid"/>
          </a:ln>
        </p:spPr>
      </p:sp>
      <p:sp>
        <p:nvSpPr>
          <p:cNvPr id="5" name="Number circle"/>
          <p:cNvSpPr/>
          <p:nvPr/>
        </p:nvSpPr>
        <p:spPr>
          <a:xfrm>
            <a:off x="960120" y="1892808"/>
            <a:ext cx="457200" cy="457200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6" name="Text 3"/>
          <p:cNvSpPr txBox="1"/>
          <p:nvPr/>
        </p:nvSpPr>
        <p:spPr>
          <a:xfrm>
            <a:off x="960120" y="189280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737360" y="1737360"/>
            <a:ext cx="9445752" cy="7680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NID card application</a:t>
            </a:r>
            <a:endParaRPr lang="en-US" sz="2400" dirty="0"/>
          </a:p>
        </p:txBody>
      </p:sp>
      <p:sp>
        <p:nvSpPr>
          <p:cNvPr id="8" name="Row"/>
          <p:cNvSpPr/>
          <p:nvPr/>
        </p:nvSpPr>
        <p:spPr>
          <a:xfrm>
            <a:off x="731520" y="2651760"/>
            <a:ext cx="10725912" cy="768096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2700">
            <a:solidFill>
              <a:srgbClr val="D6E5DF"/>
            </a:solidFill>
            <a:prstDash val="solid"/>
          </a:ln>
        </p:spPr>
      </p:sp>
      <p:sp>
        <p:nvSpPr>
          <p:cNvPr id="9" name="Number circle"/>
          <p:cNvSpPr/>
          <p:nvPr/>
        </p:nvSpPr>
        <p:spPr>
          <a:xfrm>
            <a:off x="960120" y="2807208"/>
            <a:ext cx="457200" cy="457200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10" name="Text 7"/>
          <p:cNvSpPr txBox="1"/>
          <p:nvPr/>
        </p:nvSpPr>
        <p:spPr>
          <a:xfrm>
            <a:off x="960120" y="280720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1737360" y="2651760"/>
            <a:ext cx="9445752" cy="7680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NID information correction</a:t>
            </a:r>
            <a:endParaRPr lang="en-US" sz="2400" dirty="0"/>
          </a:p>
        </p:txBody>
      </p:sp>
      <p:sp>
        <p:nvSpPr>
          <p:cNvPr id="12" name="Row"/>
          <p:cNvSpPr/>
          <p:nvPr/>
        </p:nvSpPr>
        <p:spPr>
          <a:xfrm>
            <a:off x="731520" y="3566160"/>
            <a:ext cx="10725912" cy="768096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2700">
            <a:solidFill>
              <a:srgbClr val="D6E5DF"/>
            </a:solidFill>
            <a:prstDash val="solid"/>
          </a:ln>
        </p:spPr>
      </p:sp>
      <p:sp>
        <p:nvSpPr>
          <p:cNvPr id="13" name="Number circle"/>
          <p:cNvSpPr/>
          <p:nvPr/>
        </p:nvSpPr>
        <p:spPr>
          <a:xfrm>
            <a:off x="960120" y="3721608"/>
            <a:ext cx="457200" cy="457200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14" name="Text 11"/>
          <p:cNvSpPr txBox="1"/>
          <p:nvPr/>
        </p:nvSpPr>
        <p:spPr>
          <a:xfrm>
            <a:off x="960120" y="372160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1737360" y="3566160"/>
            <a:ext cx="9445752" cy="7680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Birth certificate correction</a:t>
            </a:r>
            <a:endParaRPr lang="en-US" sz="2400" dirty="0"/>
          </a:p>
        </p:txBody>
      </p:sp>
      <p:sp>
        <p:nvSpPr>
          <p:cNvPr id="16" name="Row"/>
          <p:cNvSpPr/>
          <p:nvPr/>
        </p:nvSpPr>
        <p:spPr>
          <a:xfrm>
            <a:off x="731520" y="4480560"/>
            <a:ext cx="10725912" cy="768096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2700">
            <a:solidFill>
              <a:srgbClr val="D6E5DF"/>
            </a:solidFill>
            <a:prstDash val="solid"/>
          </a:ln>
        </p:spPr>
      </p:sp>
      <p:sp>
        <p:nvSpPr>
          <p:cNvPr id="17" name="Number circle"/>
          <p:cNvSpPr/>
          <p:nvPr/>
        </p:nvSpPr>
        <p:spPr>
          <a:xfrm>
            <a:off x="960120" y="4636008"/>
            <a:ext cx="457200" cy="457200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18" name="Text 15"/>
          <p:cNvSpPr txBox="1"/>
          <p:nvPr/>
        </p:nvSpPr>
        <p:spPr>
          <a:xfrm>
            <a:off x="960120" y="463600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1737360" y="4480560"/>
            <a:ext cx="9445752" cy="7680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Passport application</a:t>
            </a:r>
            <a:endParaRPr lang="en-US" sz="2400" dirty="0"/>
          </a:p>
        </p:txBody>
      </p:sp>
      <p:sp>
        <p:nvSpPr>
          <p:cNvPr id="20" name="Row"/>
          <p:cNvSpPr/>
          <p:nvPr/>
        </p:nvSpPr>
        <p:spPr>
          <a:xfrm>
            <a:off x="731520" y="5394960"/>
            <a:ext cx="10725912" cy="768096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2700">
            <a:solidFill>
              <a:srgbClr val="D6E5DF"/>
            </a:solidFill>
            <a:prstDash val="solid"/>
          </a:ln>
        </p:spPr>
      </p:sp>
      <p:sp>
        <p:nvSpPr>
          <p:cNvPr id="21" name="Number circle"/>
          <p:cNvSpPr/>
          <p:nvPr/>
        </p:nvSpPr>
        <p:spPr>
          <a:xfrm>
            <a:off x="960120" y="5550408"/>
            <a:ext cx="457200" cy="457200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22" name="Text 19"/>
          <p:cNvSpPr txBox="1"/>
          <p:nvPr/>
        </p:nvSpPr>
        <p:spPr>
          <a:xfrm>
            <a:off x="960120" y="555040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1737360" y="5394960"/>
            <a:ext cx="9445752" cy="7680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Trade license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594360"/>
            <a:ext cx="914400" cy="640080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5E9C8A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lvl1pPr>
          </a:lstStyle>
          <a:p>
            <a:pPr algn="r"/>
            <a:fld id="{F7021451-1387-4CA6-816F-3879F97B5CBC}" type="slidenum">
              <a:rPr lang="en-US" b="1"/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731520" y="457200"/>
            <a:ext cx="95097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1"/>
                </a:solidFill>
              </a:rPr>
              <a:t>Tools we used</a:t>
            </a:r>
            <a:endParaRPr lang="en-US" sz="3800" dirty="0"/>
          </a:p>
        </p:txBody>
      </p:sp>
      <p:sp>
        <p:nvSpPr>
          <p:cNvPr id="4" name="Tool tile"/>
          <p:cNvSpPr/>
          <p:nvPr/>
        </p:nvSpPr>
        <p:spPr>
          <a:xfrm>
            <a:off x="731520" y="2377440"/>
            <a:ext cx="2510028" cy="2194560"/>
          </a:xfrm>
          <a:prstGeom prst="roundRect">
            <a:avLst>
              <a:gd name="adj" fmla="val 6250"/>
            </a:avLst>
          </a:prstGeom>
          <a:solidFill>
            <a:schemeClr val="bg1"/>
          </a:solidFill>
          <a:ln w="12700">
            <a:solidFill>
              <a:srgbClr val="D6E5DF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51560" y="2743200"/>
            <a:ext cx="186994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Front end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051560" y="3291840"/>
            <a:ext cx="1869948" cy="1645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chemeClr val="tx2"/>
                </a:solidFill>
                <a:latin typeface="+mj-lt"/>
                <a:ea typeface="+mj-lt"/>
                <a:cs typeface="+mj-lt"/>
              </a:rPr>
              <a:t>HTML, CSS, JavaScript</a:t>
            </a:r>
            <a:endParaRPr lang="en-US" sz="2100" dirty="0"/>
          </a:p>
        </p:txBody>
      </p:sp>
      <p:sp>
        <p:nvSpPr>
          <p:cNvPr id="7" name="Tool tile"/>
          <p:cNvSpPr/>
          <p:nvPr/>
        </p:nvSpPr>
        <p:spPr>
          <a:xfrm>
            <a:off x="3470148" y="2377440"/>
            <a:ext cx="2510028" cy="2194560"/>
          </a:xfrm>
          <a:prstGeom prst="roundRect">
            <a:avLst>
              <a:gd name="adj" fmla="val 6250"/>
            </a:avLst>
          </a:prstGeom>
          <a:solidFill>
            <a:schemeClr val="bg1"/>
          </a:solidFill>
          <a:ln w="12700">
            <a:solidFill>
              <a:srgbClr val="D6E5D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790188" y="2743200"/>
            <a:ext cx="186994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Back end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3790188" y="3291840"/>
            <a:ext cx="1869948" cy="1645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chemeClr val="tx2"/>
                </a:solidFill>
                <a:latin typeface="+mj-lt"/>
                <a:ea typeface="+mj-lt"/>
                <a:cs typeface="+mj-lt"/>
              </a:rPr>
              <a:t>Python (Flask)</a:t>
            </a:r>
            <a:endParaRPr lang="en-US" sz="2100" dirty="0"/>
          </a:p>
        </p:txBody>
      </p:sp>
      <p:sp>
        <p:nvSpPr>
          <p:cNvPr id="10" name="Tool tile"/>
          <p:cNvSpPr/>
          <p:nvPr/>
        </p:nvSpPr>
        <p:spPr>
          <a:xfrm>
            <a:off x="6208776" y="2377440"/>
            <a:ext cx="2510028" cy="2194560"/>
          </a:xfrm>
          <a:prstGeom prst="roundRect">
            <a:avLst>
              <a:gd name="adj" fmla="val 6250"/>
            </a:avLst>
          </a:prstGeom>
          <a:solidFill>
            <a:schemeClr val="bg1"/>
          </a:solidFill>
          <a:ln w="12700">
            <a:solidFill>
              <a:srgbClr val="D6E5D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528816" y="2743200"/>
            <a:ext cx="186994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Database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6528816" y="3291840"/>
            <a:ext cx="1869948" cy="1645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chemeClr val="tx2"/>
                </a:solidFill>
                <a:latin typeface="+mj-lt"/>
                <a:ea typeface="+mj-lt"/>
                <a:cs typeface="+mj-lt"/>
              </a:rPr>
              <a:t>MySQL (XAMPP)</a:t>
            </a:r>
            <a:endParaRPr lang="en-US" sz="2100" dirty="0"/>
          </a:p>
        </p:txBody>
      </p:sp>
      <p:sp>
        <p:nvSpPr>
          <p:cNvPr id="13" name="Tool tile"/>
          <p:cNvSpPr/>
          <p:nvPr/>
        </p:nvSpPr>
        <p:spPr>
          <a:xfrm>
            <a:off x="8947404" y="2377440"/>
            <a:ext cx="2510028" cy="2194560"/>
          </a:xfrm>
          <a:prstGeom prst="roundRect">
            <a:avLst>
              <a:gd name="adj" fmla="val 6250"/>
            </a:avLst>
          </a:prstGeom>
          <a:solidFill>
            <a:schemeClr val="bg1"/>
          </a:solidFill>
          <a:ln w="12700">
            <a:solidFill>
              <a:srgbClr val="D6E5D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267444" y="2743200"/>
            <a:ext cx="186994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Testing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9267444" y="3291840"/>
            <a:ext cx="1869948" cy="1645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chemeClr val="tx2"/>
                </a:solidFill>
                <a:latin typeface="+mj-lt"/>
                <a:ea typeface="+mj-lt"/>
                <a:cs typeface="+mj-lt"/>
              </a:rPr>
              <a:t>Python unittest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594360"/>
            <a:ext cx="914400" cy="640080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5E9C8A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lvl1pPr>
          </a:lstStyle>
          <a:p>
            <a:pPr algn="r"/>
            <a:fld id="{F7021451-1387-4CA6-816F-3879F97B5CBC}" type="slidenum">
              <a:rPr lang="en-US" b="1"/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731520" y="457200"/>
            <a:ext cx="95097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1"/>
                </a:solidFill>
              </a:rPr>
              <a:t>How a user uses it</a:t>
            </a:r>
            <a:endParaRPr lang="en-US" sz="3800" dirty="0"/>
          </a:p>
        </p:txBody>
      </p:sp>
      <p:sp>
        <p:nvSpPr>
          <p:cNvPr id="4" name="Row"/>
          <p:cNvSpPr/>
          <p:nvPr/>
        </p:nvSpPr>
        <p:spPr>
          <a:xfrm>
            <a:off x="731520" y="1737360"/>
            <a:ext cx="10725912" cy="623316"/>
          </a:xfrm>
          <a:prstGeom prst="roundRect">
            <a:avLst>
              <a:gd name="adj" fmla="val 17604"/>
            </a:avLst>
          </a:prstGeom>
          <a:solidFill>
            <a:schemeClr val="bg1"/>
          </a:solidFill>
          <a:ln w="12700">
            <a:solidFill>
              <a:srgbClr val="D6E5DF"/>
            </a:solidFill>
            <a:prstDash val="solid"/>
          </a:ln>
        </p:spPr>
      </p:sp>
      <p:sp>
        <p:nvSpPr>
          <p:cNvPr id="5" name="Step circle"/>
          <p:cNvSpPr/>
          <p:nvPr/>
        </p:nvSpPr>
        <p:spPr>
          <a:xfrm>
            <a:off x="960120" y="1820418"/>
            <a:ext cx="457200" cy="457200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6" name="Text 3"/>
          <p:cNvSpPr txBox="1"/>
          <p:nvPr/>
        </p:nvSpPr>
        <p:spPr>
          <a:xfrm>
            <a:off x="960120" y="182041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737360" y="1737360"/>
            <a:ext cx="9445752" cy="6233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</a:rPr>
              <a:t>Register and log in</a:t>
            </a:r>
            <a:endParaRPr lang="en-US" sz="2200" dirty="0"/>
          </a:p>
        </p:txBody>
      </p:sp>
      <p:sp>
        <p:nvSpPr>
          <p:cNvPr id="8" name="Row"/>
          <p:cNvSpPr/>
          <p:nvPr/>
        </p:nvSpPr>
        <p:spPr>
          <a:xfrm>
            <a:off x="731520" y="2506980"/>
            <a:ext cx="10725912" cy="623316"/>
          </a:xfrm>
          <a:prstGeom prst="roundRect">
            <a:avLst>
              <a:gd name="adj" fmla="val 17604"/>
            </a:avLst>
          </a:prstGeom>
          <a:solidFill>
            <a:schemeClr val="bg1"/>
          </a:solidFill>
          <a:ln w="12700">
            <a:solidFill>
              <a:srgbClr val="D6E5DF"/>
            </a:solidFill>
            <a:prstDash val="solid"/>
          </a:ln>
        </p:spPr>
      </p:sp>
      <p:sp>
        <p:nvSpPr>
          <p:cNvPr id="9" name="Step circle"/>
          <p:cNvSpPr/>
          <p:nvPr/>
        </p:nvSpPr>
        <p:spPr>
          <a:xfrm>
            <a:off x="960120" y="2590038"/>
            <a:ext cx="457200" cy="457200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10" name="Text 7"/>
          <p:cNvSpPr txBox="1"/>
          <p:nvPr/>
        </p:nvSpPr>
        <p:spPr>
          <a:xfrm>
            <a:off x="960120" y="259003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1737360" y="2506980"/>
            <a:ext cx="9445752" cy="6233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</a:rPr>
              <a:t>Write the problem in the finder</a:t>
            </a:r>
            <a:endParaRPr lang="en-US" sz="2200" dirty="0"/>
          </a:p>
        </p:txBody>
      </p:sp>
      <p:sp>
        <p:nvSpPr>
          <p:cNvPr id="12" name="Row"/>
          <p:cNvSpPr/>
          <p:nvPr/>
        </p:nvSpPr>
        <p:spPr>
          <a:xfrm>
            <a:off x="731520" y="3276600"/>
            <a:ext cx="10725912" cy="623316"/>
          </a:xfrm>
          <a:prstGeom prst="roundRect">
            <a:avLst>
              <a:gd name="adj" fmla="val 17604"/>
            </a:avLst>
          </a:prstGeom>
          <a:solidFill>
            <a:schemeClr val="bg1"/>
          </a:solidFill>
          <a:ln w="12700">
            <a:solidFill>
              <a:srgbClr val="D6E5DF"/>
            </a:solidFill>
            <a:prstDash val="solid"/>
          </a:ln>
        </p:spPr>
      </p:sp>
      <p:sp>
        <p:nvSpPr>
          <p:cNvPr id="13" name="Step circle"/>
          <p:cNvSpPr/>
          <p:nvPr/>
        </p:nvSpPr>
        <p:spPr>
          <a:xfrm>
            <a:off x="960120" y="3359658"/>
            <a:ext cx="457200" cy="457200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14" name="Text 11"/>
          <p:cNvSpPr txBox="1"/>
          <p:nvPr/>
        </p:nvSpPr>
        <p:spPr>
          <a:xfrm>
            <a:off x="960120" y="335965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1737360" y="3276600"/>
            <a:ext cx="9445752" cy="6233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</a:rPr>
              <a:t>Read the documents and steps</a:t>
            </a:r>
            <a:endParaRPr lang="en-US" sz="2200" dirty="0"/>
          </a:p>
        </p:txBody>
      </p:sp>
      <p:sp>
        <p:nvSpPr>
          <p:cNvPr id="16" name="Row"/>
          <p:cNvSpPr/>
          <p:nvPr/>
        </p:nvSpPr>
        <p:spPr>
          <a:xfrm>
            <a:off x="731520" y="4046220"/>
            <a:ext cx="10725912" cy="623316"/>
          </a:xfrm>
          <a:prstGeom prst="roundRect">
            <a:avLst>
              <a:gd name="adj" fmla="val 17604"/>
            </a:avLst>
          </a:prstGeom>
          <a:solidFill>
            <a:schemeClr val="bg1"/>
          </a:solidFill>
          <a:ln w="12700">
            <a:solidFill>
              <a:srgbClr val="D6E5DF"/>
            </a:solidFill>
            <a:prstDash val="solid"/>
          </a:ln>
        </p:spPr>
      </p:sp>
      <p:sp>
        <p:nvSpPr>
          <p:cNvPr id="17" name="Step circle"/>
          <p:cNvSpPr/>
          <p:nvPr/>
        </p:nvSpPr>
        <p:spPr>
          <a:xfrm>
            <a:off x="960120" y="4129278"/>
            <a:ext cx="457200" cy="457200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18" name="Text 15"/>
          <p:cNvSpPr txBox="1"/>
          <p:nvPr/>
        </p:nvSpPr>
        <p:spPr>
          <a:xfrm>
            <a:off x="960120" y="412927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1737360" y="4046220"/>
            <a:ext cx="9445752" cy="6233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</a:rPr>
              <a:t>Fill the form and upload documents</a:t>
            </a:r>
            <a:endParaRPr lang="en-US" sz="2200" dirty="0"/>
          </a:p>
        </p:txBody>
      </p:sp>
      <p:sp>
        <p:nvSpPr>
          <p:cNvPr id="20" name="Row"/>
          <p:cNvSpPr/>
          <p:nvPr/>
        </p:nvSpPr>
        <p:spPr>
          <a:xfrm>
            <a:off x="731520" y="4815840"/>
            <a:ext cx="10725912" cy="623316"/>
          </a:xfrm>
          <a:prstGeom prst="roundRect">
            <a:avLst>
              <a:gd name="adj" fmla="val 17604"/>
            </a:avLst>
          </a:prstGeom>
          <a:solidFill>
            <a:schemeClr val="bg1"/>
          </a:solidFill>
          <a:ln w="12700">
            <a:solidFill>
              <a:srgbClr val="D6E5DF"/>
            </a:solidFill>
            <a:prstDash val="solid"/>
          </a:ln>
        </p:spPr>
      </p:sp>
      <p:sp>
        <p:nvSpPr>
          <p:cNvPr id="21" name="Step circle"/>
          <p:cNvSpPr/>
          <p:nvPr/>
        </p:nvSpPr>
        <p:spPr>
          <a:xfrm>
            <a:off x="960120" y="4898898"/>
            <a:ext cx="457200" cy="457200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22" name="Text 19"/>
          <p:cNvSpPr txBox="1"/>
          <p:nvPr/>
        </p:nvSpPr>
        <p:spPr>
          <a:xfrm>
            <a:off x="960120" y="489889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1737360" y="4815840"/>
            <a:ext cx="9445752" cy="6233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</a:rPr>
              <a:t>Confirm and get a reference number</a:t>
            </a:r>
            <a:endParaRPr lang="en-US" sz="2200" dirty="0"/>
          </a:p>
        </p:txBody>
      </p:sp>
      <p:sp>
        <p:nvSpPr>
          <p:cNvPr id="24" name="Row"/>
          <p:cNvSpPr/>
          <p:nvPr/>
        </p:nvSpPr>
        <p:spPr>
          <a:xfrm>
            <a:off x="731520" y="5585460"/>
            <a:ext cx="10725912" cy="623316"/>
          </a:xfrm>
          <a:prstGeom prst="roundRect">
            <a:avLst>
              <a:gd name="adj" fmla="val 17604"/>
            </a:avLst>
          </a:prstGeom>
          <a:solidFill>
            <a:schemeClr val="bg1"/>
          </a:solidFill>
          <a:ln w="12700">
            <a:solidFill>
              <a:srgbClr val="D6E5DF"/>
            </a:solidFill>
            <a:prstDash val="solid"/>
          </a:ln>
        </p:spPr>
      </p:sp>
      <p:sp>
        <p:nvSpPr>
          <p:cNvPr id="25" name="Step circle"/>
          <p:cNvSpPr/>
          <p:nvPr/>
        </p:nvSpPr>
        <p:spPr>
          <a:xfrm>
            <a:off x="960120" y="5668518"/>
            <a:ext cx="457200" cy="457200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26" name="Text 23"/>
          <p:cNvSpPr txBox="1"/>
          <p:nvPr/>
        </p:nvSpPr>
        <p:spPr>
          <a:xfrm>
            <a:off x="960120" y="566851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6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1737360" y="5585460"/>
            <a:ext cx="9445752" cy="6233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</a:rPr>
              <a:t>Track the status</a:t>
            </a:r>
            <a:endParaRPr lang="en-US" sz="22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594360"/>
            <a:ext cx="914400" cy="640080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5E9C8A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lvl1pPr>
          </a:lstStyle>
          <a:p>
            <a:pPr algn="r"/>
            <a:fld id="{F7021451-1387-4CA6-816F-3879F97B5CBC}" type="slidenum">
              <a:rPr lang="en-US" b="1"/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731520" y="457200"/>
            <a:ext cx="95097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1"/>
                </a:solidFill>
              </a:rPr>
              <a:t>Example</a:t>
            </a:r>
            <a:endParaRPr lang="en-US" sz="3800" dirty="0"/>
          </a:p>
        </p:txBody>
      </p:sp>
      <p:sp>
        <p:nvSpPr>
          <p:cNvPr id="4" name="Quote box"/>
          <p:cNvSpPr/>
          <p:nvPr/>
        </p:nvSpPr>
        <p:spPr>
          <a:xfrm>
            <a:off x="731520" y="1737360"/>
            <a:ext cx="10725912" cy="1371600"/>
          </a:xfrm>
          <a:prstGeom prst="roundRect">
            <a:avLst>
              <a:gd name="adj" fmla="val 10000"/>
            </a:avLst>
          </a:prstGeom>
          <a:solidFill>
            <a:srgbClr val="DCEAF5"/>
          </a:solidFill>
        </p:spPr>
      </p:sp>
      <p:sp>
        <p:nvSpPr>
          <p:cNvPr id="5" name="Text 2"/>
          <p:cNvSpPr txBox="1"/>
          <p:nvPr/>
        </p:nvSpPr>
        <p:spPr>
          <a:xfrm>
            <a:off x="1188720" y="1737360"/>
            <a:ext cx="9811512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  <a:latin typeface="+mj-lt"/>
                <a:ea typeface="+mj-lt"/>
                <a:cs typeface="+mj-lt"/>
              </a:rPr>
              <a:t>A user writes: "I need a new NID card but lost my SSC certificate."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3429000"/>
            <a:ext cx="107259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The finder shows:</a:t>
            </a:r>
            <a:endParaRPr lang="en-US" sz="2000" dirty="0"/>
          </a:p>
        </p:txBody>
      </p:sp>
      <p:sp>
        <p:nvSpPr>
          <p:cNvPr id="7" name="Row"/>
          <p:cNvSpPr/>
          <p:nvPr/>
        </p:nvSpPr>
        <p:spPr>
          <a:xfrm>
            <a:off x="731520" y="3977640"/>
            <a:ext cx="10725912" cy="658368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2700">
            <a:solidFill>
              <a:srgbClr val="D6E5DF"/>
            </a:solidFill>
            <a:prstDash val="solid"/>
          </a:ln>
        </p:spPr>
      </p:sp>
      <p:sp>
        <p:nvSpPr>
          <p:cNvPr id="8" name="Dot"/>
          <p:cNvSpPr/>
          <p:nvPr/>
        </p:nvSpPr>
        <p:spPr>
          <a:xfrm>
            <a:off x="1051560" y="4233672"/>
            <a:ext cx="146304" cy="146304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9" name="Text 6"/>
          <p:cNvSpPr txBox="1"/>
          <p:nvPr/>
        </p:nvSpPr>
        <p:spPr>
          <a:xfrm>
            <a:off x="1463040" y="3977640"/>
            <a:ext cx="9720072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</a:rPr>
              <a:t>The New NID service</a:t>
            </a:r>
            <a:endParaRPr lang="en-US" sz="2200" dirty="0"/>
          </a:p>
        </p:txBody>
      </p:sp>
      <p:sp>
        <p:nvSpPr>
          <p:cNvPr id="10" name="Row"/>
          <p:cNvSpPr/>
          <p:nvPr/>
        </p:nvSpPr>
        <p:spPr>
          <a:xfrm>
            <a:off x="731520" y="4782312"/>
            <a:ext cx="10725912" cy="658368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2700">
            <a:solidFill>
              <a:srgbClr val="D6E5DF"/>
            </a:solidFill>
            <a:prstDash val="solid"/>
          </a:ln>
        </p:spPr>
      </p:sp>
      <p:sp>
        <p:nvSpPr>
          <p:cNvPr id="11" name="Dot"/>
          <p:cNvSpPr/>
          <p:nvPr/>
        </p:nvSpPr>
        <p:spPr>
          <a:xfrm>
            <a:off x="1051560" y="5038344"/>
            <a:ext cx="146304" cy="146304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12" name="Text 9"/>
          <p:cNvSpPr txBox="1"/>
          <p:nvPr/>
        </p:nvSpPr>
        <p:spPr>
          <a:xfrm>
            <a:off x="1463040" y="4782312"/>
            <a:ext cx="9720072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</a:rPr>
              <a:t>Ask the Education Board for a duplicate certificate</a:t>
            </a:r>
            <a:endParaRPr lang="en-US" sz="2200" dirty="0"/>
          </a:p>
        </p:txBody>
      </p:sp>
      <p:sp>
        <p:nvSpPr>
          <p:cNvPr id="13" name="Row"/>
          <p:cNvSpPr/>
          <p:nvPr/>
        </p:nvSpPr>
        <p:spPr>
          <a:xfrm>
            <a:off x="731520" y="5586984"/>
            <a:ext cx="10725912" cy="658368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2700">
            <a:solidFill>
              <a:srgbClr val="D6E5DF"/>
            </a:solidFill>
            <a:prstDash val="solid"/>
          </a:ln>
        </p:spPr>
      </p:sp>
      <p:sp>
        <p:nvSpPr>
          <p:cNvPr id="14" name="Dot"/>
          <p:cNvSpPr/>
          <p:nvPr/>
        </p:nvSpPr>
        <p:spPr>
          <a:xfrm>
            <a:off x="1051560" y="5843016"/>
            <a:ext cx="146304" cy="146304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15" name="Text 12"/>
          <p:cNvSpPr txBox="1"/>
          <p:nvPr/>
        </p:nvSpPr>
        <p:spPr>
          <a:xfrm>
            <a:off x="1463040" y="5586984"/>
            <a:ext cx="9720072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</a:rPr>
              <a:t>Ask the Election Office which other proof they accept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594360"/>
            <a:ext cx="914400" cy="640080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5E9C8A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lvl1pPr>
          </a:lstStyle>
          <a:p>
            <a:pPr algn="r"/>
            <a:fld id="{F7021451-1387-4CA6-816F-3879F97B5CBC}" type="slidenum">
              <a:rPr lang="en-US" b="1"/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731520" y="457200"/>
            <a:ext cx="95097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1"/>
                </a:solidFill>
              </a:rPr>
              <a:t>Safety</a:t>
            </a:r>
            <a:endParaRPr lang="en-US" sz="3800" dirty="0"/>
          </a:p>
        </p:txBody>
      </p:sp>
      <p:sp>
        <p:nvSpPr>
          <p:cNvPr id="4" name="Row"/>
          <p:cNvSpPr/>
          <p:nvPr/>
        </p:nvSpPr>
        <p:spPr>
          <a:xfrm>
            <a:off x="731520" y="1737360"/>
            <a:ext cx="10725912" cy="905256"/>
          </a:xfrm>
          <a:prstGeom prst="roundRect">
            <a:avLst>
              <a:gd name="adj" fmla="val 12121"/>
            </a:avLst>
          </a:prstGeom>
          <a:solidFill>
            <a:schemeClr val="bg1"/>
          </a:solidFill>
          <a:ln w="12700">
            <a:solidFill>
              <a:srgbClr val="D6E5DF"/>
            </a:solidFill>
            <a:prstDash val="solid"/>
          </a:ln>
        </p:spPr>
      </p:sp>
      <p:sp>
        <p:nvSpPr>
          <p:cNvPr id="5" name="Dot"/>
          <p:cNvSpPr/>
          <p:nvPr/>
        </p:nvSpPr>
        <p:spPr>
          <a:xfrm>
            <a:off x="1051560" y="2116836"/>
            <a:ext cx="146304" cy="146304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6" name="Text 3"/>
          <p:cNvSpPr txBox="1"/>
          <p:nvPr/>
        </p:nvSpPr>
        <p:spPr>
          <a:xfrm>
            <a:off x="1463040" y="1737360"/>
            <a:ext cx="9720072" cy="9052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Passwords are saved in hashed form</a:t>
            </a:r>
            <a:endParaRPr lang="en-US" sz="2400" dirty="0"/>
          </a:p>
        </p:txBody>
      </p:sp>
      <p:sp>
        <p:nvSpPr>
          <p:cNvPr id="7" name="Row"/>
          <p:cNvSpPr/>
          <p:nvPr/>
        </p:nvSpPr>
        <p:spPr>
          <a:xfrm>
            <a:off x="731520" y="2788920"/>
            <a:ext cx="10725912" cy="905256"/>
          </a:xfrm>
          <a:prstGeom prst="roundRect">
            <a:avLst>
              <a:gd name="adj" fmla="val 12121"/>
            </a:avLst>
          </a:prstGeom>
          <a:solidFill>
            <a:schemeClr val="bg1"/>
          </a:solidFill>
          <a:ln w="12700">
            <a:solidFill>
              <a:srgbClr val="D6E5DF"/>
            </a:solidFill>
            <a:prstDash val="solid"/>
          </a:ln>
        </p:spPr>
      </p:sp>
      <p:sp>
        <p:nvSpPr>
          <p:cNvPr id="8" name="Dot"/>
          <p:cNvSpPr/>
          <p:nvPr/>
        </p:nvSpPr>
        <p:spPr>
          <a:xfrm>
            <a:off x="1051560" y="3168396"/>
            <a:ext cx="146304" cy="146304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9" name="Text 6"/>
          <p:cNvSpPr txBox="1"/>
          <p:nvPr/>
        </p:nvSpPr>
        <p:spPr>
          <a:xfrm>
            <a:off x="1463040" y="2788920"/>
            <a:ext cx="9720072" cy="9052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Only the admin can open admin pages</a:t>
            </a:r>
            <a:endParaRPr lang="en-US" sz="2400" dirty="0"/>
          </a:p>
        </p:txBody>
      </p:sp>
      <p:sp>
        <p:nvSpPr>
          <p:cNvPr id="10" name="Row"/>
          <p:cNvSpPr/>
          <p:nvPr/>
        </p:nvSpPr>
        <p:spPr>
          <a:xfrm>
            <a:off x="731520" y="3840480"/>
            <a:ext cx="10725912" cy="905256"/>
          </a:xfrm>
          <a:prstGeom prst="roundRect">
            <a:avLst>
              <a:gd name="adj" fmla="val 12121"/>
            </a:avLst>
          </a:prstGeom>
          <a:solidFill>
            <a:schemeClr val="bg1"/>
          </a:solidFill>
          <a:ln w="12700">
            <a:solidFill>
              <a:srgbClr val="D6E5DF"/>
            </a:solidFill>
            <a:prstDash val="solid"/>
          </a:ln>
        </p:spPr>
      </p:sp>
      <p:sp>
        <p:nvSpPr>
          <p:cNvPr id="11" name="Dot"/>
          <p:cNvSpPr/>
          <p:nvPr/>
        </p:nvSpPr>
        <p:spPr>
          <a:xfrm>
            <a:off x="1051560" y="4219956"/>
            <a:ext cx="146304" cy="146304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12" name="Text 9"/>
          <p:cNvSpPr txBox="1"/>
          <p:nvPr/>
        </p:nvSpPr>
        <p:spPr>
          <a:xfrm>
            <a:off x="1463040" y="3840480"/>
            <a:ext cx="9720072" cy="9052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Only PDF, JPG and PNG files up to 5 MB are accepted</a:t>
            </a:r>
            <a:endParaRPr lang="en-US" sz="2400" dirty="0"/>
          </a:p>
        </p:txBody>
      </p:sp>
      <p:sp>
        <p:nvSpPr>
          <p:cNvPr id="13" name="Row"/>
          <p:cNvSpPr/>
          <p:nvPr/>
        </p:nvSpPr>
        <p:spPr>
          <a:xfrm>
            <a:off x="731520" y="4892040"/>
            <a:ext cx="10725912" cy="905256"/>
          </a:xfrm>
          <a:prstGeom prst="roundRect">
            <a:avLst>
              <a:gd name="adj" fmla="val 12121"/>
            </a:avLst>
          </a:prstGeom>
          <a:solidFill>
            <a:schemeClr val="bg1"/>
          </a:solidFill>
          <a:ln w="12700">
            <a:solidFill>
              <a:srgbClr val="D6E5DF"/>
            </a:solidFill>
            <a:prstDash val="solid"/>
          </a:ln>
        </p:spPr>
      </p:sp>
      <p:sp>
        <p:nvSpPr>
          <p:cNvPr id="14" name="Dot"/>
          <p:cNvSpPr/>
          <p:nvPr/>
        </p:nvSpPr>
        <p:spPr>
          <a:xfrm>
            <a:off x="1051560" y="5271516"/>
            <a:ext cx="146304" cy="146304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15" name="Text 12"/>
          <p:cNvSpPr txBox="1"/>
          <p:nvPr/>
        </p:nvSpPr>
        <p:spPr>
          <a:xfrm>
            <a:off x="1463040" y="4892040"/>
            <a:ext cx="9720072" cy="9052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A user cannot open another user's documents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594360"/>
            <a:ext cx="914400" cy="640080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5E9C8A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lvl1pPr>
          </a:lstStyle>
          <a:p>
            <a:pPr algn="r"/>
            <a:fld id="{F7021451-1387-4CA6-816F-3879F97B5CBC}" type="slidenum">
              <a:rPr lang="en-US" b="1"/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731520" y="457200"/>
            <a:ext cx="95097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1"/>
                </a:solidFill>
              </a:rPr>
              <a:t>Testing</a:t>
            </a:r>
            <a:endParaRPr lang="en-US" sz="3800" dirty="0"/>
          </a:p>
        </p:txBody>
      </p:sp>
      <p:sp>
        <p:nvSpPr>
          <p:cNvPr id="4" name="Row"/>
          <p:cNvSpPr/>
          <p:nvPr/>
        </p:nvSpPr>
        <p:spPr>
          <a:xfrm>
            <a:off x="731520" y="1737360"/>
            <a:ext cx="10725912" cy="768096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2700">
            <a:solidFill>
              <a:srgbClr val="D6E5DF"/>
            </a:solidFill>
            <a:prstDash val="solid"/>
          </a:ln>
        </p:spPr>
      </p:sp>
      <p:sp>
        <p:nvSpPr>
          <p:cNvPr id="5" name="Dot"/>
          <p:cNvSpPr/>
          <p:nvPr/>
        </p:nvSpPr>
        <p:spPr>
          <a:xfrm>
            <a:off x="1051560" y="2048256"/>
            <a:ext cx="146304" cy="146304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6" name="Text 3"/>
          <p:cNvSpPr txBox="1"/>
          <p:nvPr/>
        </p:nvSpPr>
        <p:spPr>
          <a:xfrm>
            <a:off x="1463040" y="1737360"/>
            <a:ext cx="9720072" cy="7680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We have 64 automated tests</a:t>
            </a:r>
            <a:endParaRPr lang="en-US" sz="2400" dirty="0"/>
          </a:p>
        </p:txBody>
      </p:sp>
      <p:sp>
        <p:nvSpPr>
          <p:cNvPr id="7" name="Row"/>
          <p:cNvSpPr/>
          <p:nvPr/>
        </p:nvSpPr>
        <p:spPr>
          <a:xfrm>
            <a:off x="731520" y="2651760"/>
            <a:ext cx="10725912" cy="768096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2700">
            <a:solidFill>
              <a:srgbClr val="D6E5DF"/>
            </a:solidFill>
            <a:prstDash val="solid"/>
          </a:ln>
        </p:spPr>
      </p:sp>
      <p:sp>
        <p:nvSpPr>
          <p:cNvPr id="8" name="Dot"/>
          <p:cNvSpPr/>
          <p:nvPr/>
        </p:nvSpPr>
        <p:spPr>
          <a:xfrm>
            <a:off x="1051560" y="2962656"/>
            <a:ext cx="146304" cy="146304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9" name="Text 6"/>
          <p:cNvSpPr txBox="1"/>
          <p:nvPr/>
        </p:nvSpPr>
        <p:spPr>
          <a:xfrm>
            <a:off x="1463040" y="2651760"/>
            <a:ext cx="9720072" cy="7680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All 64 passed</a:t>
            </a:r>
            <a:endParaRPr lang="en-US" sz="2400" dirty="0"/>
          </a:p>
        </p:txBody>
      </p:sp>
      <p:sp>
        <p:nvSpPr>
          <p:cNvPr id="10" name="Row"/>
          <p:cNvSpPr/>
          <p:nvPr/>
        </p:nvSpPr>
        <p:spPr>
          <a:xfrm>
            <a:off x="731520" y="3566160"/>
            <a:ext cx="10725912" cy="768096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2700">
            <a:solidFill>
              <a:srgbClr val="D6E5DF"/>
            </a:solidFill>
            <a:prstDash val="solid"/>
          </a:ln>
        </p:spPr>
      </p:sp>
      <p:sp>
        <p:nvSpPr>
          <p:cNvPr id="11" name="Dot"/>
          <p:cNvSpPr/>
          <p:nvPr/>
        </p:nvSpPr>
        <p:spPr>
          <a:xfrm>
            <a:off x="1051560" y="3877056"/>
            <a:ext cx="146304" cy="146304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12" name="Text 9"/>
          <p:cNvSpPr txBox="1"/>
          <p:nvPr/>
        </p:nvSpPr>
        <p:spPr>
          <a:xfrm>
            <a:off x="1463040" y="3566160"/>
            <a:ext cx="9720072" cy="7680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Every main feature has tests</a:t>
            </a:r>
            <a:endParaRPr lang="en-US" sz="2400" dirty="0"/>
          </a:p>
        </p:txBody>
      </p:sp>
      <p:sp>
        <p:nvSpPr>
          <p:cNvPr id="13" name="Row"/>
          <p:cNvSpPr/>
          <p:nvPr/>
        </p:nvSpPr>
        <p:spPr>
          <a:xfrm>
            <a:off x="731520" y="4480560"/>
            <a:ext cx="10725912" cy="768096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2700">
            <a:solidFill>
              <a:srgbClr val="D6E5DF"/>
            </a:solidFill>
            <a:prstDash val="solid"/>
          </a:ln>
        </p:spPr>
      </p:sp>
      <p:sp>
        <p:nvSpPr>
          <p:cNvPr id="14" name="Dot"/>
          <p:cNvSpPr/>
          <p:nvPr/>
        </p:nvSpPr>
        <p:spPr>
          <a:xfrm>
            <a:off x="1051560" y="4791456"/>
            <a:ext cx="146304" cy="146304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15" name="Text 12"/>
          <p:cNvSpPr txBox="1"/>
          <p:nvPr/>
        </p:nvSpPr>
        <p:spPr>
          <a:xfrm>
            <a:off x="1463040" y="4480560"/>
            <a:ext cx="9720072" cy="7680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We put 4 bugs in the code on purpose and the tests found all 4</a:t>
            </a:r>
            <a:endParaRPr lang="en-US" sz="2400" dirty="0"/>
          </a:p>
        </p:txBody>
      </p:sp>
      <p:sp>
        <p:nvSpPr>
          <p:cNvPr id="16" name="Row"/>
          <p:cNvSpPr/>
          <p:nvPr/>
        </p:nvSpPr>
        <p:spPr>
          <a:xfrm>
            <a:off x="731520" y="5394960"/>
            <a:ext cx="10725912" cy="768096"/>
          </a:xfrm>
          <a:prstGeom prst="roundRect">
            <a:avLst>
              <a:gd name="adj" fmla="val 14286"/>
            </a:avLst>
          </a:prstGeom>
          <a:solidFill>
            <a:srgbClr val="DDEFE8"/>
          </a:solidFill>
          <a:ln w="12700">
            <a:solidFill>
              <a:srgbClr val="D6E5DF"/>
            </a:solidFill>
            <a:prstDash val="solid"/>
          </a:ln>
        </p:spPr>
      </p:sp>
      <p:sp>
        <p:nvSpPr>
          <p:cNvPr id="17" name="Dot"/>
          <p:cNvSpPr/>
          <p:nvPr/>
        </p:nvSpPr>
        <p:spPr>
          <a:xfrm>
            <a:off x="1051560" y="5705856"/>
            <a:ext cx="146304" cy="146304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18" name="Text 15"/>
          <p:cNvSpPr txBox="1"/>
          <p:nvPr/>
        </p:nvSpPr>
        <p:spPr>
          <a:xfrm>
            <a:off x="1463040" y="5394960"/>
            <a:ext cx="9720072" cy="7680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Still to do: code coverage, speed test and user test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594360"/>
            <a:ext cx="914400" cy="640080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5E9C8A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lvl1pPr>
          </a:lstStyle>
          <a:p>
            <a:pPr algn="r"/>
            <a:fld id="{F7021451-1387-4CA6-816F-3879F97B5CBC}" type="slidenum">
              <a:rPr lang="en-US" b="1"/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731520" y="457200"/>
            <a:ext cx="95097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1"/>
                </a:solidFill>
              </a:rPr>
              <a:t>Limits right now</a:t>
            </a:r>
            <a:endParaRPr lang="en-US" sz="3800" dirty="0"/>
          </a:p>
        </p:txBody>
      </p:sp>
      <p:sp>
        <p:nvSpPr>
          <p:cNvPr id="4" name="Row"/>
          <p:cNvSpPr/>
          <p:nvPr/>
        </p:nvSpPr>
        <p:spPr>
          <a:xfrm>
            <a:off x="731520" y="1737360"/>
            <a:ext cx="10725912" cy="768096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2700">
            <a:solidFill>
              <a:srgbClr val="D6E5DF"/>
            </a:solidFill>
            <a:prstDash val="solid"/>
          </a:ln>
        </p:spPr>
      </p:sp>
      <p:sp>
        <p:nvSpPr>
          <p:cNvPr id="5" name="Dot"/>
          <p:cNvSpPr/>
          <p:nvPr/>
        </p:nvSpPr>
        <p:spPr>
          <a:xfrm>
            <a:off x="1051560" y="2048256"/>
            <a:ext cx="146304" cy="146304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6" name="Text 3"/>
          <p:cNvSpPr txBox="1"/>
          <p:nvPr/>
        </p:nvSpPr>
        <p:spPr>
          <a:xfrm>
            <a:off x="1463040" y="1737360"/>
            <a:ext cx="9720072" cy="7680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</a:rPr>
              <a:t>The finder only matches keywords, so some sentences may not work</a:t>
            </a:r>
            <a:endParaRPr lang="en-US" sz="2200" dirty="0"/>
          </a:p>
        </p:txBody>
      </p:sp>
      <p:sp>
        <p:nvSpPr>
          <p:cNvPr id="7" name="Row"/>
          <p:cNvSpPr/>
          <p:nvPr/>
        </p:nvSpPr>
        <p:spPr>
          <a:xfrm>
            <a:off x="731520" y="2651760"/>
            <a:ext cx="10725912" cy="768096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2700">
            <a:solidFill>
              <a:srgbClr val="D6E5DF"/>
            </a:solidFill>
            <a:prstDash val="solid"/>
          </a:ln>
        </p:spPr>
      </p:sp>
      <p:sp>
        <p:nvSpPr>
          <p:cNvPr id="8" name="Dot"/>
          <p:cNvSpPr/>
          <p:nvPr/>
        </p:nvSpPr>
        <p:spPr>
          <a:xfrm>
            <a:off x="1051560" y="2962656"/>
            <a:ext cx="146304" cy="146304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9" name="Text 6"/>
          <p:cNvSpPr txBox="1"/>
          <p:nvPr/>
        </p:nvSpPr>
        <p:spPr>
          <a:xfrm>
            <a:off x="1463040" y="2651760"/>
            <a:ext cx="9720072" cy="7680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</a:rPr>
              <a:t>It does not connect to real government websites</a:t>
            </a:r>
            <a:endParaRPr lang="en-US" sz="2200" dirty="0"/>
          </a:p>
        </p:txBody>
      </p:sp>
      <p:sp>
        <p:nvSpPr>
          <p:cNvPr id="10" name="Row"/>
          <p:cNvSpPr/>
          <p:nvPr/>
        </p:nvSpPr>
        <p:spPr>
          <a:xfrm>
            <a:off x="731520" y="3566160"/>
            <a:ext cx="10725912" cy="768096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2700">
            <a:solidFill>
              <a:srgbClr val="D6E5DF"/>
            </a:solidFill>
            <a:prstDash val="solid"/>
          </a:ln>
        </p:spPr>
      </p:sp>
      <p:sp>
        <p:nvSpPr>
          <p:cNvPr id="11" name="Dot"/>
          <p:cNvSpPr/>
          <p:nvPr/>
        </p:nvSpPr>
        <p:spPr>
          <a:xfrm>
            <a:off x="1051560" y="3877056"/>
            <a:ext cx="146304" cy="146304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12" name="Text 9"/>
          <p:cNvSpPr txBox="1"/>
          <p:nvPr/>
        </p:nvSpPr>
        <p:spPr>
          <a:xfrm>
            <a:off x="1463040" y="3566160"/>
            <a:ext cx="9720072" cy="7680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</a:rPr>
              <a:t>It does not send applications to the government</a:t>
            </a:r>
            <a:endParaRPr lang="en-US" sz="2200" dirty="0"/>
          </a:p>
        </p:txBody>
      </p:sp>
      <p:sp>
        <p:nvSpPr>
          <p:cNvPr id="13" name="Row"/>
          <p:cNvSpPr/>
          <p:nvPr/>
        </p:nvSpPr>
        <p:spPr>
          <a:xfrm>
            <a:off x="731520" y="4480560"/>
            <a:ext cx="10725912" cy="768096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2700">
            <a:solidFill>
              <a:srgbClr val="D6E5DF"/>
            </a:solidFill>
            <a:prstDash val="solid"/>
          </a:ln>
        </p:spPr>
      </p:sp>
      <p:sp>
        <p:nvSpPr>
          <p:cNvPr id="14" name="Dot"/>
          <p:cNvSpPr/>
          <p:nvPr/>
        </p:nvSpPr>
        <p:spPr>
          <a:xfrm>
            <a:off x="1051560" y="4791456"/>
            <a:ext cx="146304" cy="146304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15" name="Text 12"/>
          <p:cNvSpPr txBox="1"/>
          <p:nvPr/>
        </p:nvSpPr>
        <p:spPr>
          <a:xfrm>
            <a:off x="1463040" y="4480560"/>
            <a:ext cx="9720072" cy="7680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</a:rPr>
              <a:t>We tested mostly on a test database, not the full MySQL setup</a:t>
            </a:r>
            <a:endParaRPr lang="en-US" sz="2200" dirty="0"/>
          </a:p>
        </p:txBody>
      </p:sp>
      <p:sp>
        <p:nvSpPr>
          <p:cNvPr id="16" name="Row"/>
          <p:cNvSpPr/>
          <p:nvPr/>
        </p:nvSpPr>
        <p:spPr>
          <a:xfrm>
            <a:off x="731520" y="5394960"/>
            <a:ext cx="10725912" cy="768096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2700">
            <a:solidFill>
              <a:srgbClr val="D6E5DF"/>
            </a:solidFill>
            <a:prstDash val="solid"/>
          </a:ln>
        </p:spPr>
      </p:sp>
      <p:sp>
        <p:nvSpPr>
          <p:cNvPr id="17" name="Dot"/>
          <p:cNvSpPr/>
          <p:nvPr/>
        </p:nvSpPr>
        <p:spPr>
          <a:xfrm>
            <a:off x="1051560" y="5705856"/>
            <a:ext cx="146304" cy="146304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18" name="Text 15"/>
          <p:cNvSpPr txBox="1"/>
          <p:nvPr/>
        </p:nvSpPr>
        <p:spPr>
          <a:xfrm>
            <a:off x="1463040" y="5394960"/>
            <a:ext cx="9720072" cy="7680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</a:rPr>
              <a:t>There is a demo admin account and no CSRF protection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594360"/>
            <a:ext cx="914400" cy="640080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5E9C8A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lvl1pPr>
          </a:lstStyle>
          <a:p>
            <a:pPr algn="r"/>
            <a:fld id="{F7021451-1387-4CA6-816F-3879F97B5CBC}" type="slidenum">
              <a:rPr lang="en-US" b="1"/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731520" y="457200"/>
            <a:ext cx="95097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1"/>
                </a:solidFill>
              </a:rPr>
              <a:t>Future work</a:t>
            </a:r>
            <a:endParaRPr lang="en-US" sz="3800" dirty="0"/>
          </a:p>
        </p:txBody>
      </p:sp>
      <p:sp>
        <p:nvSpPr>
          <p:cNvPr id="4" name="Row"/>
          <p:cNvSpPr/>
          <p:nvPr/>
        </p:nvSpPr>
        <p:spPr>
          <a:xfrm>
            <a:off x="731520" y="1737360"/>
            <a:ext cx="10725912" cy="513370"/>
          </a:xfrm>
          <a:prstGeom prst="roundRect">
            <a:avLst>
              <a:gd name="adj" fmla="val 21374"/>
            </a:avLst>
          </a:prstGeom>
          <a:solidFill>
            <a:schemeClr val="bg1"/>
          </a:solidFill>
          <a:ln w="12700">
            <a:solidFill>
              <a:srgbClr val="D6E5DF"/>
            </a:solidFill>
            <a:prstDash val="solid"/>
          </a:ln>
        </p:spPr>
      </p:sp>
      <p:sp>
        <p:nvSpPr>
          <p:cNvPr id="5" name="Dot"/>
          <p:cNvSpPr/>
          <p:nvPr/>
        </p:nvSpPr>
        <p:spPr>
          <a:xfrm>
            <a:off x="1051560" y="1920893"/>
            <a:ext cx="146304" cy="146304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6" name="Text 3"/>
          <p:cNvSpPr txBox="1"/>
          <p:nvPr/>
        </p:nvSpPr>
        <p:spPr>
          <a:xfrm>
            <a:off x="1463040" y="1737360"/>
            <a:ext cx="9720072" cy="5133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Use AI so the finder understands Bangla and English better</a:t>
            </a:r>
            <a:endParaRPr lang="en-US" sz="2000" dirty="0"/>
          </a:p>
        </p:txBody>
      </p:sp>
      <p:sp>
        <p:nvSpPr>
          <p:cNvPr id="7" name="Row"/>
          <p:cNvSpPr/>
          <p:nvPr/>
        </p:nvSpPr>
        <p:spPr>
          <a:xfrm>
            <a:off x="731520" y="2397034"/>
            <a:ext cx="10725912" cy="513370"/>
          </a:xfrm>
          <a:prstGeom prst="roundRect">
            <a:avLst>
              <a:gd name="adj" fmla="val 21374"/>
            </a:avLst>
          </a:prstGeom>
          <a:solidFill>
            <a:schemeClr val="bg1"/>
          </a:solidFill>
          <a:ln w="12700">
            <a:solidFill>
              <a:srgbClr val="D6E5DF"/>
            </a:solidFill>
            <a:prstDash val="solid"/>
          </a:ln>
        </p:spPr>
      </p:sp>
      <p:sp>
        <p:nvSpPr>
          <p:cNvPr id="8" name="Dot"/>
          <p:cNvSpPr/>
          <p:nvPr/>
        </p:nvSpPr>
        <p:spPr>
          <a:xfrm>
            <a:off x="1051560" y="2580567"/>
            <a:ext cx="146304" cy="146304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9" name="Text 6"/>
          <p:cNvSpPr txBox="1"/>
          <p:nvPr/>
        </p:nvSpPr>
        <p:spPr>
          <a:xfrm>
            <a:off x="1463040" y="2397034"/>
            <a:ext cx="9720072" cy="5133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Connect with official government APIs to show the real status</a:t>
            </a:r>
            <a:endParaRPr lang="en-US" sz="2000" dirty="0"/>
          </a:p>
        </p:txBody>
      </p:sp>
      <p:sp>
        <p:nvSpPr>
          <p:cNvPr id="10" name="Row"/>
          <p:cNvSpPr/>
          <p:nvPr/>
        </p:nvSpPr>
        <p:spPr>
          <a:xfrm>
            <a:off x="731520" y="3056709"/>
            <a:ext cx="10725912" cy="513370"/>
          </a:xfrm>
          <a:prstGeom prst="roundRect">
            <a:avLst>
              <a:gd name="adj" fmla="val 21374"/>
            </a:avLst>
          </a:prstGeom>
          <a:solidFill>
            <a:schemeClr val="bg1"/>
          </a:solidFill>
          <a:ln w="12700">
            <a:solidFill>
              <a:srgbClr val="D6E5DF"/>
            </a:solidFill>
            <a:prstDash val="solid"/>
          </a:ln>
        </p:spPr>
      </p:sp>
      <p:sp>
        <p:nvSpPr>
          <p:cNvPr id="11" name="Dot"/>
          <p:cNvSpPr/>
          <p:nvPr/>
        </p:nvSpPr>
        <p:spPr>
          <a:xfrm>
            <a:off x="1051560" y="3240242"/>
            <a:ext cx="146304" cy="146304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12" name="Text 9"/>
          <p:cNvSpPr txBox="1"/>
          <p:nvPr/>
        </p:nvSpPr>
        <p:spPr>
          <a:xfrm>
            <a:off x="1463040" y="3056709"/>
            <a:ext cx="9720072" cy="5133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Check documents automatically and find mismatches</a:t>
            </a:r>
            <a:endParaRPr lang="en-US" sz="2000" dirty="0"/>
          </a:p>
        </p:txBody>
      </p:sp>
      <p:sp>
        <p:nvSpPr>
          <p:cNvPr id="13" name="Row"/>
          <p:cNvSpPr/>
          <p:nvPr/>
        </p:nvSpPr>
        <p:spPr>
          <a:xfrm>
            <a:off x="731520" y="3716383"/>
            <a:ext cx="10725912" cy="513370"/>
          </a:xfrm>
          <a:prstGeom prst="roundRect">
            <a:avLst>
              <a:gd name="adj" fmla="val 21374"/>
            </a:avLst>
          </a:prstGeom>
          <a:solidFill>
            <a:schemeClr val="bg1"/>
          </a:solidFill>
          <a:ln w="12700">
            <a:solidFill>
              <a:srgbClr val="D6E5DF"/>
            </a:solidFill>
            <a:prstDash val="solid"/>
          </a:ln>
        </p:spPr>
      </p:sp>
      <p:sp>
        <p:nvSpPr>
          <p:cNvPr id="14" name="Dot"/>
          <p:cNvSpPr/>
          <p:nvPr/>
        </p:nvSpPr>
        <p:spPr>
          <a:xfrm>
            <a:off x="1051560" y="3899916"/>
            <a:ext cx="146304" cy="146304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15" name="Text 12"/>
          <p:cNvSpPr txBox="1"/>
          <p:nvPr/>
        </p:nvSpPr>
        <p:spPr>
          <a:xfrm>
            <a:off x="1463040" y="3716383"/>
            <a:ext cx="9720072" cy="5133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Show the fastest legal way to get a service</a:t>
            </a:r>
            <a:endParaRPr lang="en-US" sz="2000" dirty="0"/>
          </a:p>
        </p:txBody>
      </p:sp>
      <p:sp>
        <p:nvSpPr>
          <p:cNvPr id="16" name="Row"/>
          <p:cNvSpPr/>
          <p:nvPr/>
        </p:nvSpPr>
        <p:spPr>
          <a:xfrm>
            <a:off x="731520" y="4376057"/>
            <a:ext cx="10725912" cy="513370"/>
          </a:xfrm>
          <a:prstGeom prst="roundRect">
            <a:avLst>
              <a:gd name="adj" fmla="val 21374"/>
            </a:avLst>
          </a:prstGeom>
          <a:solidFill>
            <a:schemeClr val="bg1"/>
          </a:solidFill>
          <a:ln w="12700">
            <a:solidFill>
              <a:srgbClr val="D6E5DF"/>
            </a:solidFill>
            <a:prstDash val="solid"/>
          </a:ln>
        </p:spPr>
      </p:sp>
      <p:sp>
        <p:nvSpPr>
          <p:cNvPr id="17" name="Dot"/>
          <p:cNvSpPr/>
          <p:nvPr/>
        </p:nvSpPr>
        <p:spPr>
          <a:xfrm>
            <a:off x="1051560" y="4559590"/>
            <a:ext cx="146304" cy="146304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18" name="Text 15"/>
          <p:cNvSpPr txBox="1"/>
          <p:nvPr/>
        </p:nvSpPr>
        <p:spPr>
          <a:xfrm>
            <a:off x="1463040" y="4376057"/>
            <a:ext cx="9720072" cy="5133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Predict processing time from past data</a:t>
            </a:r>
            <a:endParaRPr lang="en-US" sz="2000" dirty="0"/>
          </a:p>
        </p:txBody>
      </p:sp>
      <p:sp>
        <p:nvSpPr>
          <p:cNvPr id="19" name="Row"/>
          <p:cNvSpPr/>
          <p:nvPr/>
        </p:nvSpPr>
        <p:spPr>
          <a:xfrm>
            <a:off x="731520" y="5035731"/>
            <a:ext cx="10725912" cy="513370"/>
          </a:xfrm>
          <a:prstGeom prst="roundRect">
            <a:avLst>
              <a:gd name="adj" fmla="val 21374"/>
            </a:avLst>
          </a:prstGeom>
          <a:solidFill>
            <a:schemeClr val="bg1"/>
          </a:solidFill>
          <a:ln w="12700">
            <a:solidFill>
              <a:srgbClr val="D6E5DF"/>
            </a:solidFill>
            <a:prstDash val="solid"/>
          </a:ln>
        </p:spPr>
      </p:sp>
      <p:sp>
        <p:nvSpPr>
          <p:cNvPr id="20" name="Dot"/>
          <p:cNvSpPr/>
          <p:nvPr/>
        </p:nvSpPr>
        <p:spPr>
          <a:xfrm>
            <a:off x="1051560" y="5219265"/>
            <a:ext cx="146304" cy="146304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21" name="Text 18"/>
          <p:cNvSpPr txBox="1"/>
          <p:nvPr/>
        </p:nvSpPr>
        <p:spPr>
          <a:xfrm>
            <a:off x="1463040" y="5035731"/>
            <a:ext cx="9720072" cy="5133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Home delivery of approved documents</a:t>
            </a:r>
            <a:endParaRPr lang="en-US" sz="2000" dirty="0"/>
          </a:p>
        </p:txBody>
      </p:sp>
      <p:sp>
        <p:nvSpPr>
          <p:cNvPr id="22" name="Row"/>
          <p:cNvSpPr/>
          <p:nvPr/>
        </p:nvSpPr>
        <p:spPr>
          <a:xfrm>
            <a:off x="731520" y="5695406"/>
            <a:ext cx="10725912" cy="513370"/>
          </a:xfrm>
          <a:prstGeom prst="roundRect">
            <a:avLst>
              <a:gd name="adj" fmla="val 21374"/>
            </a:avLst>
          </a:prstGeom>
          <a:solidFill>
            <a:schemeClr val="bg1"/>
          </a:solidFill>
          <a:ln w="12700">
            <a:solidFill>
              <a:srgbClr val="D6E5DF"/>
            </a:solidFill>
            <a:prstDash val="solid"/>
          </a:ln>
        </p:spPr>
      </p:sp>
      <p:sp>
        <p:nvSpPr>
          <p:cNvPr id="23" name="Dot"/>
          <p:cNvSpPr/>
          <p:nvPr/>
        </p:nvSpPr>
        <p:spPr>
          <a:xfrm>
            <a:off x="1051560" y="5878939"/>
            <a:ext cx="146304" cy="146304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24" name="Text 21"/>
          <p:cNvSpPr txBox="1"/>
          <p:nvPr/>
        </p:nvSpPr>
        <p:spPr>
          <a:xfrm>
            <a:off x="1463040" y="5695406"/>
            <a:ext cx="9720072" cy="5133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Mobile app and OTP login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594360"/>
            <a:ext cx="914400" cy="640080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5E9C8A"/>
                </a:solidFill>
                <a:latin typeface="Georgia" panose="02040502050405020303"/>
                <a:ea typeface="Georgia" panose="02040502050405020303"/>
                <a:cs typeface="Georgia" panose="02040502050405020303"/>
              </a:defRPr>
            </a:lvl1pPr>
          </a:lstStyle>
          <a:p>
            <a:pPr algn="r"/>
            <a:fld id="{F7021451-1387-4CA6-816F-3879F97B5CBC}" type="slidenum">
              <a:rPr lang="en-US" b="1"/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ft circle blue"/>
          <p:cNvSpPr/>
          <p:nvPr/>
        </p:nvSpPr>
        <p:spPr>
          <a:xfrm>
            <a:off x="8229600" y="1234440"/>
            <a:ext cx="4389120" cy="4389120"/>
          </a:xfrm>
          <a:prstGeom prst="ellipse">
            <a:avLst/>
          </a:prstGeom>
          <a:solidFill>
            <a:srgbClr val="CFE3F3">
              <a:alpha val="85000"/>
            </a:srgbClr>
          </a:solidFill>
        </p:spPr>
      </p:sp>
      <p:sp>
        <p:nvSpPr>
          <p:cNvPr id="3" name="Soft circle peach"/>
          <p:cNvSpPr/>
          <p:nvPr/>
        </p:nvSpPr>
        <p:spPr>
          <a:xfrm>
            <a:off x="8595360" y="4069080"/>
            <a:ext cx="2743200" cy="2743200"/>
          </a:xfrm>
          <a:prstGeom prst="ellipse">
            <a:avLst/>
          </a:prstGeom>
          <a:solidFill>
            <a:srgbClr val="F6D9C4">
              <a:alpha val="75000"/>
            </a:srgbClr>
          </a:solidFill>
        </p:spPr>
      </p:sp>
      <p:sp>
        <p:nvSpPr>
          <p:cNvPr id="4" name="Soft circle mint"/>
          <p:cNvSpPr/>
          <p:nvPr/>
        </p:nvSpPr>
        <p:spPr>
          <a:xfrm>
            <a:off x="9875520" y="777240"/>
            <a:ext cx="1828800" cy="1828800"/>
          </a:xfrm>
          <a:prstGeom prst="ellipse">
            <a:avLst/>
          </a:prstGeom>
          <a:solidFill>
            <a:srgbClr val="A9CFC2">
              <a:alpha val="70000"/>
            </a:srgbClr>
          </a:solidFill>
        </p:spPr>
      </p:sp>
      <p:sp>
        <p:nvSpPr>
          <p:cNvPr id="5" name="Text 0"/>
          <p:cNvSpPr/>
          <p:nvPr>
            <p:ph type="title" idx="100" hasCustomPrompt="1"/>
          </p:nvPr>
        </p:nvSpPr>
        <p:spPr>
          <a:xfrm>
            <a:off x="822960" y="1234440"/>
            <a:ext cx="10544175" cy="1325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400" b="1" dirty="0">
                <a:solidFill>
                  <a:schemeClr val="tx1"/>
                </a:solidFill>
              </a:rPr>
              <a:t>              Thank you</a:t>
            </a:r>
            <a:endParaRPr lang="en-US" sz="6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5176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3C7F6E"/>
                </a:solidFill>
                <a:latin typeface="+mj-lt"/>
                <a:ea typeface="+mj-lt"/>
                <a:cs typeface="+mj-lt"/>
              </a:rPr>
              <a:t>                                      Any questions?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357505" y="384048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ivicCalm">
  <a:themeElements>
    <a:clrScheme name="CivicCalm">
      <a:dk1>
        <a:srgbClr val="2F4A4F"/>
      </a:dk1>
      <a:lt1>
        <a:srgbClr val="FFFFFF"/>
      </a:lt1>
      <a:dk2>
        <a:srgbClr val="3C6E71"/>
      </a:dk2>
      <a:lt2>
        <a:srgbClr val="EEF5F2"/>
      </a:lt2>
      <a:accent1>
        <a:srgbClr val="5E9C8A"/>
      </a:accent1>
      <a:accent2>
        <a:srgbClr val="F2B68F"/>
      </a:accent2>
      <a:accent3>
        <a:srgbClr val="8FB8DE"/>
      </a:accent3>
      <a:accent4>
        <a:srgbClr val="E8C872"/>
      </a:accent4>
      <a:accent5>
        <a:srgbClr val="A9CFC2"/>
      </a:accent5>
      <a:accent6>
        <a:srgbClr val="8A9BA0"/>
      </a:accent6>
      <a:hlink>
        <a:srgbClr val="3C7F6E"/>
      </a:hlink>
      <a:folHlink>
        <a:srgbClr val="8FB8DE"/>
      </a:folHlink>
    </a:clrScheme>
    <a:fontScheme name="CivicCalm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ivicCalm">
  <a:themeElements>
    <a:clrScheme name="CivicCalm">
      <a:dk1>
        <a:srgbClr val="2F4A4F"/>
      </a:dk1>
      <a:lt1>
        <a:srgbClr val="FFFFFF"/>
      </a:lt1>
      <a:dk2>
        <a:srgbClr val="3C6E71"/>
      </a:dk2>
      <a:lt2>
        <a:srgbClr val="EEF5F2"/>
      </a:lt2>
      <a:accent1>
        <a:srgbClr val="5E9C8A"/>
      </a:accent1>
      <a:accent2>
        <a:srgbClr val="F2B68F"/>
      </a:accent2>
      <a:accent3>
        <a:srgbClr val="8FB8DE"/>
      </a:accent3>
      <a:accent4>
        <a:srgbClr val="E8C872"/>
      </a:accent4>
      <a:accent5>
        <a:srgbClr val="A9CFC2"/>
      </a:accent5>
      <a:accent6>
        <a:srgbClr val="8A9BA0"/>
      </a:accent6>
      <a:hlink>
        <a:srgbClr val="3C7F6E"/>
      </a:hlink>
      <a:folHlink>
        <a:srgbClr val="8FB8DE"/>
      </a:folHlink>
    </a:clrScheme>
    <a:fontScheme name="CivicCalm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2861</Words>
  <Application>WPS Presentation</Application>
  <PresentationFormat>On-screen Show (16:9)</PresentationFormat>
  <Paragraphs>226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3" baseType="lpstr">
      <vt:lpstr>Arial</vt:lpstr>
      <vt:lpstr>SimSun</vt:lpstr>
      <vt:lpstr>Wingdings</vt:lpstr>
      <vt:lpstr>Georgia</vt:lpstr>
      <vt:lpstr>Calibri</vt:lpstr>
      <vt:lpstr>Microsoft YaHei</vt:lpstr>
      <vt:lpstr>Arial Unicode MS</vt:lpstr>
      <vt:lpstr>Georgia</vt:lpstr>
      <vt:lpstr>CivicCalm</vt:lpstr>
      <vt:lpstr>CIVIC-FLOW</vt:lpstr>
      <vt:lpstr>Why we made this</vt:lpstr>
      <vt:lpstr>What our project does</vt:lpstr>
      <vt:lpstr>Traditional vs. CivicFlow</vt:lpstr>
      <vt:lpstr>Main parts of the system</vt:lpstr>
      <vt:lpstr>Dashboard services</vt:lpstr>
      <vt:lpstr>Tools we used</vt:lpstr>
      <vt:lpstr>How a user uses it</vt:lpstr>
      <vt:lpstr>Example</vt:lpstr>
      <vt:lpstr>Safety</vt:lpstr>
      <vt:lpstr>Testing</vt:lpstr>
      <vt:lpstr>Limits right now</vt:lpstr>
      <vt:lpstr>Future work</vt:lpstr>
      <vt:lpstr>Thank you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CIVIC-FLOW Smart Government Service Guide</dc:title>
  <dc:creator>PptxGenJS</dc:creator>
  <dc:subject>PptxGenJS Presentation</dc:subject>
  <cp:lastModifiedBy>USER</cp:lastModifiedBy>
  <cp:revision>3</cp:revision>
  <dcterms:created xsi:type="dcterms:W3CDTF">2026-10-25T15:50:00Z</dcterms:created>
  <dcterms:modified xsi:type="dcterms:W3CDTF">2026-10-25T16:42:03Z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1033-12.1.0.29162</vt:lpwstr>
  </property>
  <property fmtid="{D5CDD505-2E9C-101B-9397-08002B2CF9AE}" pid="3" name="ICV">
    <vt:lpwstr>E31745990BBB459FB0742A6F8358DD5F_13</vt:lpwstr>
  </property>
</Properties>
</file>